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70" r:id="rId4"/>
    <p:sldId id="258" r:id="rId5"/>
    <p:sldId id="275" r:id="rId6"/>
    <p:sldId id="259" r:id="rId7"/>
    <p:sldId id="260" r:id="rId8"/>
    <p:sldId id="262" r:id="rId9"/>
    <p:sldId id="285" r:id="rId10"/>
    <p:sldId id="263" r:id="rId11"/>
    <p:sldId id="264" r:id="rId12"/>
    <p:sldId id="265" r:id="rId13"/>
    <p:sldId id="274" r:id="rId14"/>
    <p:sldId id="282" r:id="rId15"/>
    <p:sldId id="283" r:id="rId16"/>
    <p:sldId id="266" r:id="rId17"/>
    <p:sldId id="269" r:id="rId18"/>
    <p:sldId id="267" r:id="rId19"/>
    <p:sldId id="268" r:id="rId20"/>
    <p:sldId id="284" r:id="rId21"/>
    <p:sldId id="271" r:id="rId22"/>
    <p:sldId id="272"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720"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pPr/>
              <a:t>5/8/2025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pPr/>
              <a:t>5/8/2025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pPr/>
              <a:t>5/8/2025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pPr/>
              <a:t>5/8/2025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pPr/>
              <a:t>5/8/2025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pPr/>
              <a:t>5/8/2025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pPr/>
              <a:t>5/8/2025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pPr/>
              <a:t>5/8/2025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pPr/>
              <a:t>5/8/2025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pPr/>
              <a:t>5/8/2025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pPr/>
              <a:t>5/8/2025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pPr/>
              <a:t>5/8/2025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332D4-9EBD-A615-D03B-9B2D62B8DC50}"/>
              </a:ext>
            </a:extLst>
          </p:cNvPr>
          <p:cNvSpPr>
            <a:spLocks noGrp="1"/>
          </p:cNvSpPr>
          <p:nvPr>
            <p:ph type="ctrTitle" idx="4294967295"/>
          </p:nvPr>
        </p:nvSpPr>
        <p:spPr>
          <a:xfrm>
            <a:off x="304801" y="1636294"/>
            <a:ext cx="11566358" cy="4443663"/>
          </a:xfrm>
        </p:spPr>
        <p:txBody>
          <a:bodyPr>
            <a:normAutofit fontScale="90000"/>
          </a:bodyPr>
          <a:lstStyle/>
          <a:p>
            <a:r>
              <a:rPr lang="en-IN" sz="3600" dirty="0"/>
              <a:t>                                     </a:t>
            </a:r>
            <a:br>
              <a:rPr lang="en-IN" sz="3600" dirty="0"/>
            </a:br>
            <a:r>
              <a:rPr lang="en-IN" sz="3100" dirty="0">
                <a:latin typeface="Times New Roman" panose="02020603050405020304" pitchFamily="18" charset="0"/>
                <a:cs typeface="Times New Roman" panose="02020603050405020304" pitchFamily="18" charset="0"/>
              </a:rPr>
              <a:t>                                     </a:t>
            </a:r>
            <a:r>
              <a:rPr lang="en-IN" sz="3100" dirty="0" smtClean="0">
                <a:latin typeface="Times New Roman" panose="02020603050405020304" pitchFamily="18" charset="0"/>
                <a:cs typeface="Times New Roman" panose="02020603050405020304" pitchFamily="18" charset="0"/>
              </a:rPr>
              <a:t>        </a:t>
            </a:r>
            <a:r>
              <a:rPr lang="en-IN" sz="3600" dirty="0" smtClean="0">
                <a:solidFill>
                  <a:schemeClr val="tx1">
                    <a:lumMod val="85000"/>
                    <a:lumOff val="15000"/>
                  </a:schemeClr>
                </a:solidFill>
                <a:latin typeface="Times New Roman" panose="02020603050405020304" pitchFamily="18" charset="0"/>
                <a:cs typeface="Times New Roman" panose="02020603050405020304" pitchFamily="18" charset="0"/>
              </a:rPr>
              <a:t>A </a:t>
            </a:r>
            <a:r>
              <a:rPr lang="en-IN" sz="3600" dirty="0">
                <a:solidFill>
                  <a:schemeClr val="tx1">
                    <a:lumMod val="85000"/>
                    <a:lumOff val="15000"/>
                  </a:schemeClr>
                </a:solidFill>
                <a:latin typeface="Times New Roman" panose="02020603050405020304" pitchFamily="18" charset="0"/>
                <a:cs typeface="Times New Roman" panose="02020603050405020304" pitchFamily="18" charset="0"/>
              </a:rPr>
              <a:t>Presentation On:    </a:t>
            </a:r>
            <a:r>
              <a:rPr lang="en-IN" sz="3600" dirty="0"/>
              <a:t/>
            </a:r>
            <a:br>
              <a:rPr lang="en-IN" sz="3600" dirty="0"/>
            </a:br>
            <a:r>
              <a:rPr lang="en-IN" sz="3600" dirty="0"/>
              <a:t>                      </a:t>
            </a:r>
            <a:br>
              <a:rPr lang="en-IN" sz="3600" dirty="0"/>
            </a:br>
            <a:r>
              <a:rPr lang="en-IN" sz="4400" b="1" dirty="0">
                <a:solidFill>
                  <a:schemeClr val="tx1">
                    <a:lumMod val="95000"/>
                    <a:lumOff val="5000"/>
                  </a:schemeClr>
                </a:solidFill>
              </a:rPr>
              <a:t>      </a:t>
            </a:r>
            <a:r>
              <a:rPr lang="en-US" sz="3600" b="1" dirty="0">
                <a:solidFill>
                  <a:schemeClr val="tx1">
                    <a:lumMod val="95000"/>
                    <a:lumOff val="5000"/>
                  </a:schemeClr>
                </a:solidFill>
                <a:latin typeface="Times New Roman" panose="02020603050405020304" pitchFamily="18" charset="0"/>
                <a:cs typeface="Times New Roman" panose="02020603050405020304" pitchFamily="18" charset="0"/>
              </a:rPr>
              <a:t>WIRELESS BASED TRAFFIC VIOLATON DETECTION</a:t>
            </a:r>
            <a:r>
              <a:rPr lang="en-IN" sz="5300" b="1" dirty="0">
                <a:solidFill>
                  <a:schemeClr val="tx1">
                    <a:lumMod val="95000"/>
                    <a:lumOff val="5000"/>
                  </a:schemeClr>
                </a:solidFill>
                <a:latin typeface="Times New Roman" panose="02020603050405020304" pitchFamily="18" charset="0"/>
                <a:cs typeface="Times New Roman" panose="02020603050405020304" pitchFamily="18" charset="0"/>
              </a:rPr>
              <a:t/>
            </a:r>
            <a:br>
              <a:rPr lang="en-IN" sz="5300" b="1" dirty="0">
                <a:solidFill>
                  <a:schemeClr val="tx1">
                    <a:lumMod val="95000"/>
                    <a:lumOff val="5000"/>
                  </a:schemeClr>
                </a:solidFill>
                <a:latin typeface="Times New Roman" panose="02020603050405020304" pitchFamily="18" charset="0"/>
                <a:cs typeface="Times New Roman" panose="02020603050405020304" pitchFamily="18" charset="0"/>
              </a:rPr>
            </a:br>
            <a:r>
              <a:rPr lang="en-IN" sz="5300" b="1" dirty="0">
                <a:solidFill>
                  <a:schemeClr val="tx1">
                    <a:lumMod val="95000"/>
                    <a:lumOff val="5000"/>
                  </a:schemeClr>
                </a:solidFill>
              </a:rPr>
              <a:t>                            </a:t>
            </a:r>
            <a:r>
              <a:rPr lang="en-IN" sz="3600" dirty="0"/>
              <a:t/>
            </a:r>
            <a:br>
              <a:rPr lang="en-IN" sz="3600" dirty="0"/>
            </a:br>
            <a:r>
              <a:rPr lang="en-IN" sz="3600" dirty="0"/>
              <a:t/>
            </a:r>
            <a:br>
              <a:rPr lang="en-IN" sz="3600" dirty="0"/>
            </a:br>
            <a:r>
              <a:rPr lang="en-IN" sz="3600" dirty="0"/>
              <a:t/>
            </a:r>
            <a:br>
              <a:rPr lang="en-IN" sz="3600" dirty="0"/>
            </a:br>
            <a:r>
              <a:rPr lang="en-IN" dirty="0"/>
              <a:t> </a:t>
            </a:r>
          </a:p>
        </p:txBody>
      </p:sp>
      <p:sp>
        <p:nvSpPr>
          <p:cNvPr id="4" name="TextBox 3">
            <a:extLst>
              <a:ext uri="{FF2B5EF4-FFF2-40B4-BE49-F238E27FC236}">
                <a16:creationId xmlns:a16="http://schemas.microsoft.com/office/drawing/2014/main" id="{C780A649-C8C1-A6BD-E0F5-FA4E67FBB7C0}"/>
              </a:ext>
            </a:extLst>
          </p:cNvPr>
          <p:cNvSpPr txBox="1"/>
          <p:nvPr/>
        </p:nvSpPr>
        <p:spPr>
          <a:xfrm>
            <a:off x="568960" y="279296"/>
            <a:ext cx="11156696" cy="954107"/>
          </a:xfrm>
          <a:prstGeom prst="rect">
            <a:avLst/>
          </a:prstGeom>
          <a:noFill/>
        </p:spPr>
        <p:txBody>
          <a:bodyPr wrap="square">
            <a:spAutoFit/>
          </a:bodyPr>
          <a:lstStyle/>
          <a:p>
            <a:pPr algn="ctr"/>
            <a:r>
              <a:rPr lang="en-IN" sz="2800" b="1" dirty="0">
                <a:solidFill>
                  <a:srgbClr val="C00000"/>
                </a:solidFill>
                <a:latin typeface="Times New Roman" panose="02020603050405020304" pitchFamily="18" charset="0"/>
                <a:cs typeface="Times New Roman" panose="02020603050405020304" pitchFamily="18" charset="0"/>
              </a:rPr>
              <a:t>PADMBHOOSHAN VASANTRAODADA PATIL INSTITUTE OF TECHNOLOGY SANGLI  (BUDHGAON)</a:t>
            </a:r>
          </a:p>
        </p:txBody>
      </p:sp>
    </p:spTree>
    <p:extLst>
      <p:ext uri="{BB962C8B-B14F-4D97-AF65-F5344CB8AC3E}">
        <p14:creationId xmlns:p14="http://schemas.microsoft.com/office/powerpoint/2010/main" val="47338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D4360F-010F-6470-B4EE-CE82052A6496}"/>
              </a:ext>
            </a:extLst>
          </p:cNvPr>
          <p:cNvSpPr>
            <a:spLocks noGrp="1"/>
          </p:cNvSpPr>
          <p:nvPr>
            <p:ph idx="4294967295"/>
          </p:nvPr>
        </p:nvSpPr>
        <p:spPr>
          <a:xfrm>
            <a:off x="0" y="0"/>
            <a:ext cx="12192000" cy="6372808"/>
          </a:xfrm>
        </p:spPr>
        <p:txBody>
          <a:bodyPr>
            <a:normAutofit/>
          </a:bodyPr>
          <a:lstStyle/>
          <a:p>
            <a:r>
              <a:rPr lang="en-IN" sz="3600" dirty="0"/>
              <a:t>   </a:t>
            </a:r>
            <a:r>
              <a:rPr lang="en-IN" sz="3000" b="1" dirty="0">
                <a:solidFill>
                  <a:srgbClr val="C00000"/>
                </a:solidFill>
                <a:latin typeface="Times New Roman" panose="02020603050405020304" pitchFamily="18" charset="0"/>
                <a:cs typeface="Times New Roman" panose="02020603050405020304" pitchFamily="18" charset="0"/>
              </a:rPr>
              <a:t>DEPARTMENT</a:t>
            </a:r>
            <a:r>
              <a:rPr lang="en-IN" sz="3200" b="1" dirty="0">
                <a:solidFill>
                  <a:srgbClr val="C00000"/>
                </a:solidFill>
              </a:rPr>
              <a:t> </a:t>
            </a:r>
            <a:r>
              <a:rPr lang="en-IN" sz="3600" dirty="0"/>
              <a:t>:- </a:t>
            </a:r>
            <a:r>
              <a:rPr lang="en-IN" sz="2800" dirty="0">
                <a:solidFill>
                  <a:schemeClr val="tx1">
                    <a:lumMod val="85000"/>
                    <a:lumOff val="15000"/>
                  </a:schemeClr>
                </a:solidFill>
                <a:latin typeface="Times New Roman" panose="02020603050405020304" pitchFamily="18" charset="0"/>
                <a:cs typeface="Times New Roman" panose="02020603050405020304" pitchFamily="18" charset="0"/>
              </a:rPr>
              <a:t>ELECTRONICS AND TELECOMMUNICATION</a:t>
            </a:r>
          </a:p>
          <a:p>
            <a:pPr marL="0" indent="0">
              <a:buNone/>
            </a:pPr>
            <a:r>
              <a:rPr lang="en-IN" sz="3600" dirty="0"/>
              <a:t>    </a:t>
            </a:r>
            <a:r>
              <a:rPr lang="en-IN" sz="3000" b="1" dirty="0">
                <a:solidFill>
                  <a:srgbClr val="C00000"/>
                </a:solidFill>
                <a:latin typeface="Times New Roman" panose="02020603050405020304" pitchFamily="18" charset="0"/>
                <a:cs typeface="Times New Roman" panose="02020603050405020304" pitchFamily="18" charset="0"/>
              </a:rPr>
              <a:t>PRESENTED BY </a:t>
            </a:r>
            <a:r>
              <a:rPr lang="en-IN" sz="3600" dirty="0">
                <a:latin typeface="Times New Roman" panose="02020603050405020304" pitchFamily="18" charset="0"/>
                <a:cs typeface="Times New Roman" panose="02020603050405020304" pitchFamily="18" charset="0"/>
              </a:rPr>
              <a:t>:- </a:t>
            </a:r>
            <a:r>
              <a:rPr lang="en-IN" sz="2800" dirty="0">
                <a:solidFill>
                  <a:schemeClr val="tx1">
                    <a:lumMod val="85000"/>
                    <a:lumOff val="15000"/>
                  </a:schemeClr>
                </a:solidFill>
                <a:latin typeface="Times New Roman" panose="02020603050405020304" pitchFamily="18" charset="0"/>
                <a:cs typeface="Times New Roman" panose="02020603050405020304" pitchFamily="18" charset="0"/>
              </a:rPr>
              <a:t>PRATIK D. NIKAM</a:t>
            </a:r>
          </a:p>
          <a:p>
            <a:pPr marL="0" indent="0">
              <a:buNone/>
            </a:pPr>
            <a:r>
              <a:rPr lang="en-IN" sz="2800" dirty="0">
                <a:solidFill>
                  <a:schemeClr val="tx1">
                    <a:lumMod val="85000"/>
                    <a:lumOff val="15000"/>
                  </a:schemeClr>
                </a:solidFill>
                <a:latin typeface="Times New Roman" panose="02020603050405020304" pitchFamily="18" charset="0"/>
                <a:cs typeface="Times New Roman" panose="02020603050405020304" pitchFamily="18" charset="0"/>
              </a:rPr>
              <a:t>                                           SAKSHI S. PATIL</a:t>
            </a:r>
          </a:p>
          <a:p>
            <a:r>
              <a:rPr lang="en-IN" sz="2800" dirty="0">
                <a:solidFill>
                  <a:schemeClr val="tx1">
                    <a:lumMod val="85000"/>
                    <a:lumOff val="15000"/>
                  </a:schemeClr>
                </a:solidFill>
                <a:latin typeface="Times New Roman" panose="02020603050405020304" pitchFamily="18" charset="0"/>
                <a:cs typeface="Times New Roman" panose="02020603050405020304" pitchFamily="18" charset="0"/>
              </a:rPr>
              <a:t>                                          PRATIKSHA V. SAWANT</a:t>
            </a:r>
          </a:p>
          <a:p>
            <a:r>
              <a:rPr lang="en-IN" sz="2800" dirty="0" smtClean="0">
                <a:solidFill>
                  <a:schemeClr val="tx1">
                    <a:lumMod val="85000"/>
                    <a:lumOff val="15000"/>
                  </a:schemeClr>
                </a:solidFill>
                <a:latin typeface="Times New Roman" panose="02020603050405020304" pitchFamily="18" charset="0"/>
                <a:cs typeface="Times New Roman" panose="02020603050405020304" pitchFamily="18" charset="0"/>
              </a:rPr>
              <a:t>                                          SAKSHI K. PATIL</a:t>
            </a:r>
          </a:p>
          <a:p>
            <a:pPr algn="just"/>
            <a:r>
              <a:rPr lang="en-IN" sz="3200" dirty="0" smtClean="0"/>
              <a:t>   </a:t>
            </a:r>
            <a:r>
              <a:rPr lang="en-IN" sz="3000" b="1" dirty="0" smtClean="0">
                <a:solidFill>
                  <a:srgbClr val="C00000"/>
                </a:solidFill>
                <a:latin typeface="Times New Roman" panose="02020603050405020304" pitchFamily="18" charset="0"/>
                <a:cs typeface="Times New Roman" panose="02020603050405020304" pitchFamily="18" charset="0"/>
              </a:rPr>
              <a:t>CLASS</a:t>
            </a:r>
            <a:r>
              <a:rPr lang="en-IN" sz="3200" b="1" dirty="0" smtClean="0">
                <a:solidFill>
                  <a:srgbClr val="C00000"/>
                </a:solidFill>
              </a:rPr>
              <a:t> </a:t>
            </a:r>
            <a:r>
              <a:rPr lang="en-IN" sz="3600" dirty="0" smtClean="0"/>
              <a:t>:- </a:t>
            </a:r>
            <a:r>
              <a:rPr lang="en-IN" sz="2800" dirty="0" smtClean="0">
                <a:solidFill>
                  <a:schemeClr val="tx1">
                    <a:lumMod val="85000"/>
                    <a:lumOff val="15000"/>
                  </a:schemeClr>
                </a:solidFill>
                <a:latin typeface="Times New Roman" panose="02020603050405020304" pitchFamily="18" charset="0"/>
                <a:cs typeface="Times New Roman" panose="02020603050405020304" pitchFamily="18" charset="0"/>
              </a:rPr>
              <a:t>B. TECH</a:t>
            </a:r>
          </a:p>
          <a:p>
            <a:pPr algn="just"/>
            <a:r>
              <a:rPr lang="en-IN" sz="2800" dirty="0" smtClean="0"/>
              <a:t>    </a:t>
            </a:r>
            <a:r>
              <a:rPr lang="en-IN" sz="3000" b="1" dirty="0" smtClean="0">
                <a:solidFill>
                  <a:srgbClr val="C00000"/>
                </a:solidFill>
                <a:latin typeface="Times New Roman" panose="02020603050405020304" pitchFamily="18" charset="0"/>
                <a:cs typeface="Times New Roman" panose="02020603050405020304" pitchFamily="18" charset="0"/>
              </a:rPr>
              <a:t>ROLL NO </a:t>
            </a:r>
            <a:r>
              <a:rPr lang="en-IN" sz="2800" dirty="0" smtClean="0"/>
              <a:t>:- </a:t>
            </a:r>
            <a:r>
              <a:rPr lang="en-IN" sz="2800" dirty="0" smtClean="0">
                <a:latin typeface="Times New Roman" panose="02020603050405020304" pitchFamily="18" charset="0"/>
                <a:cs typeface="Times New Roman" panose="02020603050405020304" pitchFamily="18" charset="0"/>
              </a:rPr>
              <a:t>09, 10, 11, 12</a:t>
            </a:r>
            <a:endParaRPr lang="en-IN" sz="2800" dirty="0" smtClean="0">
              <a:solidFill>
                <a:schemeClr val="tx1"/>
              </a:solidFill>
              <a:latin typeface="Times New Roman" panose="02020603050405020304" pitchFamily="18" charset="0"/>
              <a:cs typeface="Times New Roman" panose="02020603050405020304" pitchFamily="18" charset="0"/>
            </a:endParaRPr>
          </a:p>
          <a:p>
            <a:pPr algn="just"/>
            <a:r>
              <a:rPr lang="en-IN" sz="3200" b="1" dirty="0" smtClean="0">
                <a:solidFill>
                  <a:srgbClr val="C00000"/>
                </a:solidFill>
              </a:rPr>
              <a:t>    </a:t>
            </a:r>
            <a:r>
              <a:rPr lang="en-IN" sz="3000" b="1" dirty="0" smtClean="0">
                <a:solidFill>
                  <a:srgbClr val="C00000"/>
                </a:solidFill>
                <a:latin typeface="Times New Roman" panose="02020603050405020304" pitchFamily="18" charset="0"/>
                <a:cs typeface="Times New Roman" panose="02020603050405020304" pitchFamily="18" charset="0"/>
              </a:rPr>
              <a:t>BATCH</a:t>
            </a:r>
            <a:r>
              <a:rPr lang="en-IN" sz="3200" b="1" dirty="0" smtClean="0">
                <a:solidFill>
                  <a:srgbClr val="C00000"/>
                </a:solidFill>
              </a:rPr>
              <a:t> </a:t>
            </a:r>
            <a:r>
              <a:rPr lang="en-IN" sz="2800" dirty="0" smtClean="0"/>
              <a:t>:- </a:t>
            </a:r>
            <a:r>
              <a:rPr lang="en-IN" sz="2800" dirty="0" smtClean="0">
                <a:solidFill>
                  <a:schemeClr val="tx1"/>
                </a:solidFill>
                <a:latin typeface="Times New Roman" panose="02020603050405020304" pitchFamily="18" charset="0"/>
                <a:cs typeface="Times New Roman" panose="02020603050405020304" pitchFamily="18" charset="0"/>
              </a:rPr>
              <a:t>B1</a:t>
            </a:r>
          </a:p>
          <a:p>
            <a:pPr algn="just"/>
            <a:r>
              <a:rPr lang="en-IN" sz="2800" dirty="0" smtClean="0"/>
              <a:t>     </a:t>
            </a:r>
            <a:r>
              <a:rPr lang="en-IN" sz="3000" b="1" dirty="0" smtClean="0">
                <a:solidFill>
                  <a:srgbClr val="C00000"/>
                </a:solidFill>
                <a:latin typeface="Times New Roman" panose="02020603050405020304" pitchFamily="18" charset="0"/>
                <a:cs typeface="Times New Roman" panose="02020603050405020304" pitchFamily="18" charset="0"/>
              </a:rPr>
              <a:t>UNDER THE GUIDANCE </a:t>
            </a:r>
            <a:r>
              <a:rPr lang="en-IN" sz="2800" dirty="0" smtClean="0"/>
              <a:t>:-</a:t>
            </a:r>
            <a:r>
              <a:rPr lang="en-IN" sz="2800" dirty="0" smtClean="0">
                <a:solidFill>
                  <a:schemeClr val="tx1"/>
                </a:solidFill>
              </a:rPr>
              <a:t> </a:t>
            </a:r>
            <a:r>
              <a:rPr lang="en-IN" sz="2800" dirty="0" err="1" smtClean="0">
                <a:solidFill>
                  <a:schemeClr val="tx1"/>
                </a:solidFill>
                <a:latin typeface="Times New Roman" panose="02020603050405020304" pitchFamily="18" charset="0"/>
                <a:cs typeface="Times New Roman" panose="02020603050405020304" pitchFamily="18" charset="0"/>
              </a:rPr>
              <a:t>Dr.</a:t>
            </a:r>
            <a:r>
              <a:rPr lang="en-IN" sz="2800" dirty="0" smtClean="0">
                <a:solidFill>
                  <a:schemeClr val="tx1"/>
                </a:solidFill>
                <a:latin typeface="Times New Roman" panose="02020603050405020304" pitchFamily="18" charset="0"/>
                <a:cs typeface="Times New Roman" panose="02020603050405020304" pitchFamily="18" charset="0"/>
              </a:rPr>
              <a:t> B. P. KULKARNI</a:t>
            </a:r>
          </a:p>
          <a:p>
            <a:endParaRPr lang="en-IN" sz="2800" dirty="0">
              <a:solidFill>
                <a:schemeClr val="tx1"/>
              </a:solidFill>
            </a:endParaRPr>
          </a:p>
        </p:txBody>
      </p:sp>
    </p:spTree>
    <p:extLst>
      <p:ext uri="{BB962C8B-B14F-4D97-AF65-F5344CB8AC3E}">
        <p14:creationId xmlns:p14="http://schemas.microsoft.com/office/powerpoint/2010/main" val="17552828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C1DA229-0B37-1257-B775-DF0B0FE3321A}"/>
              </a:ext>
            </a:extLst>
          </p:cNvPr>
          <p:cNvSpPr>
            <a:spLocks noGrp="1"/>
          </p:cNvSpPr>
          <p:nvPr>
            <p:ph type="title"/>
          </p:nvPr>
        </p:nvSpPr>
        <p:spPr>
          <a:xfrm>
            <a:off x="1097280" y="295934"/>
            <a:ext cx="10058400" cy="1032911"/>
          </a:xfrm>
        </p:spPr>
        <p:txBody>
          <a:bodyPr>
            <a:normAutofit/>
          </a:bodyPr>
          <a:lstStyle/>
          <a:p>
            <a:r>
              <a:rPr lang="en-IN" dirty="0"/>
              <a:t>                              </a:t>
            </a:r>
            <a:r>
              <a:rPr lang="en-IN" sz="4000" b="1" dirty="0">
                <a:solidFill>
                  <a:schemeClr val="tx1"/>
                </a:solidFill>
                <a:latin typeface="Times New Roman" panose="02020603050405020304" pitchFamily="18" charset="0"/>
                <a:cs typeface="Times New Roman" panose="02020603050405020304" pitchFamily="18" charset="0"/>
              </a:rPr>
              <a:t>INDEX</a:t>
            </a:r>
          </a:p>
        </p:txBody>
      </p:sp>
      <p:sp>
        <p:nvSpPr>
          <p:cNvPr id="5" name="Content Placeholder 4">
            <a:extLst>
              <a:ext uri="{FF2B5EF4-FFF2-40B4-BE49-F238E27FC236}">
                <a16:creationId xmlns:a16="http://schemas.microsoft.com/office/drawing/2014/main" id="{BBF1C4F9-09FF-04A9-E66B-4BDB889E71F5}"/>
              </a:ext>
            </a:extLst>
          </p:cNvPr>
          <p:cNvSpPr>
            <a:spLocks noGrp="1"/>
          </p:cNvSpPr>
          <p:nvPr>
            <p:ph idx="1"/>
          </p:nvPr>
        </p:nvSpPr>
        <p:spPr>
          <a:xfrm>
            <a:off x="1097280" y="1929709"/>
            <a:ext cx="10058400" cy="4365074"/>
          </a:xfrm>
        </p:spPr>
        <p:txBody>
          <a:bodyPr>
            <a:normAutofit fontScale="85000" lnSpcReduction="20000"/>
          </a:bodyPr>
          <a:lstStyle/>
          <a:p>
            <a:pPr>
              <a:buFont typeface="Courier New" panose="02070309020205020404" pitchFamily="49" charset="0"/>
              <a:buChar char="o"/>
            </a:pPr>
            <a:r>
              <a:rPr lang="en-IN" sz="2800" dirty="0">
                <a:latin typeface="Times New Roman" panose="02020603050405020304" pitchFamily="18" charset="0"/>
                <a:cs typeface="Times New Roman" panose="02020603050405020304" pitchFamily="18" charset="0"/>
              </a:rPr>
              <a:t> </a:t>
            </a:r>
            <a:r>
              <a:rPr lang="en-IN" sz="2800" dirty="0">
                <a:solidFill>
                  <a:schemeClr val="tx1"/>
                </a:solidFill>
                <a:latin typeface="Times New Roman" panose="02020603050405020304" pitchFamily="18" charset="0"/>
                <a:cs typeface="Times New Roman" panose="02020603050405020304" pitchFamily="18" charset="0"/>
              </a:rPr>
              <a:t>Introduction</a:t>
            </a:r>
          </a:p>
          <a:p>
            <a:pPr>
              <a:buFont typeface="Courier New" panose="02070309020205020404" pitchFamily="49" charset="0"/>
              <a:buChar char="o"/>
            </a:pPr>
            <a:r>
              <a:rPr lang="en-IN" sz="2800" dirty="0">
                <a:solidFill>
                  <a:schemeClr val="tx1"/>
                </a:solidFill>
                <a:latin typeface="Times New Roman" panose="02020603050405020304" pitchFamily="18" charset="0"/>
                <a:cs typeface="Times New Roman" panose="02020603050405020304" pitchFamily="18" charset="0"/>
              </a:rPr>
              <a:t> Objective</a:t>
            </a:r>
          </a:p>
          <a:p>
            <a:pPr>
              <a:buFont typeface="Courier New" panose="02070309020205020404" pitchFamily="49" charset="0"/>
              <a:buChar char="o"/>
            </a:pPr>
            <a:r>
              <a:rPr lang="en-IN" sz="2800" dirty="0">
                <a:solidFill>
                  <a:schemeClr val="tx1"/>
                </a:solidFill>
                <a:latin typeface="Times New Roman" panose="02020603050405020304" pitchFamily="18" charset="0"/>
                <a:cs typeface="Times New Roman" panose="02020603050405020304" pitchFamily="18" charset="0"/>
              </a:rPr>
              <a:t> Circuit Diagram</a:t>
            </a:r>
          </a:p>
          <a:p>
            <a:pPr>
              <a:buFont typeface="Courier New" panose="02070309020205020404" pitchFamily="49" charset="0"/>
              <a:buChar char="o"/>
            </a:pPr>
            <a:r>
              <a:rPr lang="en-IN" sz="2800" dirty="0">
                <a:solidFill>
                  <a:schemeClr val="tx1"/>
                </a:solidFill>
                <a:latin typeface="Times New Roman" panose="02020603050405020304" pitchFamily="18" charset="0"/>
                <a:cs typeface="Times New Roman" panose="02020603050405020304" pitchFamily="18" charset="0"/>
              </a:rPr>
              <a:t> Components</a:t>
            </a:r>
          </a:p>
          <a:p>
            <a:pPr>
              <a:buFont typeface="Courier New" panose="02070309020205020404" pitchFamily="49" charset="0"/>
              <a:buChar char="o"/>
            </a:pPr>
            <a:r>
              <a:rPr lang="en-IN" sz="2800" dirty="0">
                <a:solidFill>
                  <a:schemeClr val="tx1"/>
                </a:solidFill>
                <a:latin typeface="Times New Roman" panose="02020603050405020304" pitchFamily="18" charset="0"/>
                <a:cs typeface="Times New Roman" panose="02020603050405020304" pitchFamily="18" charset="0"/>
              </a:rPr>
              <a:t> Block Diagram</a:t>
            </a:r>
          </a:p>
          <a:p>
            <a:pPr>
              <a:buFont typeface="Courier New" panose="02070309020205020404" pitchFamily="49" charset="0"/>
              <a:buChar char="o"/>
            </a:pPr>
            <a:r>
              <a:rPr lang="en-IN" sz="2800" dirty="0">
                <a:solidFill>
                  <a:schemeClr val="tx1"/>
                </a:solidFill>
                <a:latin typeface="Times New Roman" panose="02020603050405020304" pitchFamily="18" charset="0"/>
                <a:cs typeface="Times New Roman" panose="02020603050405020304" pitchFamily="18" charset="0"/>
              </a:rPr>
              <a:t> Working Principle</a:t>
            </a:r>
          </a:p>
          <a:p>
            <a:pPr>
              <a:buFont typeface="Courier New" panose="02070309020205020404" pitchFamily="49" charset="0"/>
              <a:buChar char="o"/>
            </a:pPr>
            <a:r>
              <a:rPr lang="en-IN" sz="2800" dirty="0">
                <a:solidFill>
                  <a:schemeClr val="tx1"/>
                </a:solidFill>
                <a:latin typeface="Times New Roman" panose="02020603050405020304" pitchFamily="18" charset="0"/>
                <a:cs typeface="Times New Roman" panose="02020603050405020304" pitchFamily="18" charset="0"/>
              </a:rPr>
              <a:t> Application</a:t>
            </a:r>
          </a:p>
          <a:p>
            <a:pPr>
              <a:buFont typeface="Courier New" panose="02070309020205020404" pitchFamily="49" charset="0"/>
              <a:buChar char="o"/>
            </a:pPr>
            <a:r>
              <a:rPr lang="en-IN" sz="2800" dirty="0">
                <a:solidFill>
                  <a:schemeClr val="tx1"/>
                </a:solidFill>
                <a:latin typeface="Times New Roman" panose="02020603050405020304" pitchFamily="18" charset="0"/>
                <a:cs typeface="Times New Roman" panose="02020603050405020304" pitchFamily="18" charset="0"/>
              </a:rPr>
              <a:t> Advantages</a:t>
            </a:r>
          </a:p>
          <a:p>
            <a:pPr>
              <a:buFont typeface="Courier New" panose="02070309020205020404" pitchFamily="49" charset="0"/>
              <a:buChar char="o"/>
            </a:pPr>
            <a:r>
              <a:rPr lang="en-IN" sz="2800" dirty="0">
                <a:solidFill>
                  <a:schemeClr val="tx1"/>
                </a:solidFill>
                <a:latin typeface="Times New Roman" panose="02020603050405020304" pitchFamily="18" charset="0"/>
                <a:cs typeface="Times New Roman" panose="02020603050405020304" pitchFamily="18" charset="0"/>
              </a:rPr>
              <a:t> Conclusion</a:t>
            </a:r>
          </a:p>
          <a:p>
            <a:pPr>
              <a:buFont typeface="Courier New" panose="02070309020205020404" pitchFamily="49" charset="0"/>
              <a:buChar char="o"/>
            </a:pPr>
            <a:r>
              <a:rPr lang="en-IN" sz="2800" dirty="0">
                <a:solidFill>
                  <a:schemeClr val="tx1"/>
                </a:solidFill>
                <a:latin typeface="Times New Roman" panose="02020603050405020304" pitchFamily="18" charset="0"/>
                <a:cs typeface="Times New Roman" panose="02020603050405020304" pitchFamily="18" charset="0"/>
              </a:rPr>
              <a:t> Reference</a:t>
            </a:r>
          </a:p>
          <a:p>
            <a:pPr>
              <a:buFont typeface="Courier New" panose="02070309020205020404" pitchFamily="49" charset="0"/>
              <a:buChar char="o"/>
            </a:pPr>
            <a:endParaRPr lang="en-IN" dirty="0"/>
          </a:p>
        </p:txBody>
      </p:sp>
    </p:spTree>
    <p:extLst>
      <p:ext uri="{BB962C8B-B14F-4D97-AF65-F5344CB8AC3E}">
        <p14:creationId xmlns:p14="http://schemas.microsoft.com/office/powerpoint/2010/main" val="32494749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F9A83E0-77CC-864E-78BC-8CF8338981FC}"/>
              </a:ext>
            </a:extLst>
          </p:cNvPr>
          <p:cNvSpPr>
            <a:spLocks noGrp="1"/>
          </p:cNvSpPr>
          <p:nvPr>
            <p:ph type="title"/>
          </p:nvPr>
        </p:nvSpPr>
        <p:spPr>
          <a:xfrm>
            <a:off x="1097280" y="438539"/>
            <a:ext cx="10058400" cy="839756"/>
          </a:xfrm>
        </p:spPr>
        <p:txBody>
          <a:bodyPr/>
          <a:lstStyle/>
          <a:p>
            <a:pPr algn="ctr"/>
            <a:r>
              <a:rPr lang="en-IN" b="1" dirty="0" smtClean="0"/>
              <a:t> </a:t>
            </a:r>
            <a:r>
              <a:rPr lang="en-IN" sz="4000" b="1" dirty="0">
                <a:solidFill>
                  <a:schemeClr val="tx1"/>
                </a:solidFill>
                <a:latin typeface="Times New Roman" panose="02020603050405020304" pitchFamily="18" charset="0"/>
                <a:cs typeface="Times New Roman" panose="02020603050405020304" pitchFamily="18" charset="0"/>
              </a:rPr>
              <a:t>Introduction</a:t>
            </a:r>
          </a:p>
        </p:txBody>
      </p:sp>
      <p:sp>
        <p:nvSpPr>
          <p:cNvPr id="5" name="Content Placeholder 4">
            <a:extLst>
              <a:ext uri="{FF2B5EF4-FFF2-40B4-BE49-F238E27FC236}">
                <a16:creationId xmlns:a16="http://schemas.microsoft.com/office/drawing/2014/main" id="{3F6098D1-EFBB-B53B-8007-18F9E5841EE3}"/>
              </a:ext>
            </a:extLst>
          </p:cNvPr>
          <p:cNvSpPr>
            <a:spLocks noGrp="1"/>
          </p:cNvSpPr>
          <p:nvPr>
            <p:ph idx="1"/>
          </p:nvPr>
        </p:nvSpPr>
        <p:spPr>
          <a:xfrm>
            <a:off x="1097280" y="1827072"/>
            <a:ext cx="10058400" cy="4023360"/>
          </a:xfrm>
        </p:spPr>
        <p:txBody>
          <a:bodyPr>
            <a:normAutofit/>
          </a:bodyPr>
          <a:lstStyle/>
          <a:p>
            <a:pPr algn="just">
              <a:buFont typeface="Courier New" panose="02070309020205020404" pitchFamily="49" charset="0"/>
              <a:buChar char="o"/>
            </a:pP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The increasing number of traffic violations, such as signal jumping, and reckless driving, has led to rising road accidents and congestion. </a:t>
            </a:r>
          </a:p>
          <a:p>
            <a:pPr algn="just">
              <a:buFont typeface="Courier New" panose="02070309020205020404" pitchFamily="49" charset="0"/>
              <a:buChar char="o"/>
            </a:pP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Traditional camera-based systems face challenges such as poor visibility in bad weather conditions and high implementation costs. </a:t>
            </a:r>
          </a:p>
          <a:p>
            <a:pPr algn="just">
              <a:buFont typeface="Courier New" panose="02070309020205020404" pitchFamily="49" charset="0"/>
              <a:buChar char="o"/>
            </a:pP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To overcome these issues, we propose a wireless-based traffic violation detection </a:t>
            </a:r>
            <a:r>
              <a:rPr lang="en-US" sz="2400" dirty="0" smtClean="0">
                <a:solidFill>
                  <a:schemeClr val="tx1">
                    <a:lumMod val="85000"/>
                    <a:lumOff val="15000"/>
                  </a:schemeClr>
                </a:solidFill>
                <a:latin typeface="Times New Roman" panose="02020603050405020304" pitchFamily="18" charset="0"/>
                <a:cs typeface="Times New Roman" panose="02020603050405020304" pitchFamily="18" charset="0"/>
              </a:rPr>
              <a:t>system. </a:t>
            </a: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This system will automatically detect violations, such as signal break detection, accident </a:t>
            </a:r>
            <a:r>
              <a:rPr lang="en-US" sz="2400" dirty="0" smtClean="0">
                <a:solidFill>
                  <a:schemeClr val="tx1">
                    <a:lumMod val="85000"/>
                    <a:lumOff val="15000"/>
                  </a:schemeClr>
                </a:solidFill>
                <a:latin typeface="Times New Roman" panose="02020603050405020304" pitchFamily="18" charset="0"/>
                <a:cs typeface="Times New Roman" panose="02020603050405020304" pitchFamily="18" charset="0"/>
              </a:rPr>
              <a:t>detection, alcohol detection, </a:t>
            </a: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location tracking, and signal camera capture. </a:t>
            </a:r>
            <a:r>
              <a:rPr lang="en-US" sz="2400" dirty="0" smtClean="0">
                <a:solidFill>
                  <a:schemeClr val="tx1">
                    <a:lumMod val="85000"/>
                    <a:lumOff val="15000"/>
                  </a:schemeClr>
                </a:solidFill>
                <a:latin typeface="Times New Roman" panose="02020603050405020304" pitchFamily="18" charset="0"/>
                <a:cs typeface="Times New Roman" panose="02020603050405020304" pitchFamily="18" charset="0"/>
              </a:rPr>
              <a:t> </a:t>
            </a:r>
            <a:endParaRPr lang="en-IN" sz="2400"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05890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A4C87-072B-62A4-0FE3-2AA4EE0D51C1}"/>
              </a:ext>
            </a:extLst>
          </p:cNvPr>
          <p:cNvSpPr>
            <a:spLocks noGrp="1"/>
          </p:cNvSpPr>
          <p:nvPr>
            <p:ph type="title"/>
          </p:nvPr>
        </p:nvSpPr>
        <p:spPr>
          <a:xfrm>
            <a:off x="1097280" y="410547"/>
            <a:ext cx="10058400" cy="653142"/>
          </a:xfrm>
        </p:spPr>
        <p:txBody>
          <a:bodyPr>
            <a:normAutofit/>
          </a:bodyPr>
          <a:lstStyle/>
          <a:p>
            <a:pPr algn="ctr"/>
            <a:r>
              <a:rPr lang="en-IN" sz="4000" b="1" dirty="0" smtClean="0">
                <a:solidFill>
                  <a:schemeClr val="tx1"/>
                </a:solidFill>
                <a:latin typeface="Times New Roman" panose="02020603050405020304" pitchFamily="18" charset="0"/>
                <a:cs typeface="Times New Roman" panose="02020603050405020304" pitchFamily="18" charset="0"/>
              </a:rPr>
              <a:t>Objective</a:t>
            </a:r>
            <a:endParaRPr lang="en-IN" sz="40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1241126-FE79-359B-CBE3-8041BC35F68A}"/>
              </a:ext>
            </a:extLst>
          </p:cNvPr>
          <p:cNvSpPr>
            <a:spLocks noGrp="1"/>
          </p:cNvSpPr>
          <p:nvPr>
            <p:ph idx="1"/>
          </p:nvPr>
        </p:nvSpPr>
        <p:spPr/>
        <p:txBody>
          <a:bodyPr>
            <a:normAutofit/>
          </a:bodyPr>
          <a:lstStyle/>
          <a:p>
            <a:pPr>
              <a:buFont typeface="Courier New" panose="02070309020205020404" pitchFamily="49" charset="0"/>
              <a:buChar char="o"/>
            </a:pPr>
            <a:r>
              <a:rPr lang="en-US" sz="2400" dirty="0" smtClean="0">
                <a:solidFill>
                  <a:schemeClr val="tx1">
                    <a:lumMod val="85000"/>
                    <a:lumOff val="15000"/>
                  </a:schemeClr>
                </a:solidFill>
                <a:latin typeface="Times New Roman" panose="02020603050405020304" pitchFamily="18" charset="0"/>
                <a:cs typeface="Times New Roman" panose="02020603050405020304" pitchFamily="18" charset="0"/>
              </a:rPr>
              <a:t>To </a:t>
            </a: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ensure real-time vehicle tracking and identification.</a:t>
            </a:r>
          </a:p>
          <a:p>
            <a:pPr>
              <a:buFont typeface="Courier New" panose="02070309020205020404" pitchFamily="49" charset="0"/>
              <a:buChar char="o"/>
            </a:pP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 To improve road safety by integrating accident detection and emergency response.</a:t>
            </a:r>
          </a:p>
          <a:p>
            <a:pPr>
              <a:buFont typeface="Courier New" panose="02070309020205020404" pitchFamily="49" charset="0"/>
              <a:buChar char="o"/>
            </a:pP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 To enhance law enforcement efficiency by automating violation reports and penalties.</a:t>
            </a:r>
            <a:endParaRPr lang="en-IN" sz="2400"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576641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C9A9222-6A2C-30CA-FA21-9B5E1211031E}"/>
              </a:ext>
            </a:extLst>
          </p:cNvPr>
          <p:cNvSpPr>
            <a:spLocks noGrp="1"/>
          </p:cNvSpPr>
          <p:nvPr>
            <p:ph type="title"/>
          </p:nvPr>
        </p:nvSpPr>
        <p:spPr>
          <a:xfrm>
            <a:off x="1210031" y="465448"/>
            <a:ext cx="10058400" cy="758426"/>
          </a:xfrm>
        </p:spPr>
        <p:txBody>
          <a:bodyPr/>
          <a:lstStyle/>
          <a:p>
            <a:r>
              <a:rPr lang="en-IN" b="1" dirty="0"/>
              <a:t>                      </a:t>
            </a:r>
            <a:r>
              <a:rPr lang="en-IN" sz="4000" b="1" dirty="0">
                <a:solidFill>
                  <a:schemeClr val="tx1"/>
                </a:solidFill>
                <a:latin typeface="Times New Roman" panose="02020603050405020304" pitchFamily="18" charset="0"/>
                <a:cs typeface="Times New Roman" panose="02020603050405020304" pitchFamily="18" charset="0"/>
              </a:rPr>
              <a:t>Circuit Diagram</a:t>
            </a:r>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5400000">
            <a:off x="3760977" y="-1803505"/>
            <a:ext cx="4525344" cy="11006188"/>
          </a:xfrm>
        </p:spPr>
      </p:pic>
    </p:spTree>
    <p:extLst>
      <p:ext uri="{BB962C8B-B14F-4D97-AF65-F5344CB8AC3E}">
        <p14:creationId xmlns:p14="http://schemas.microsoft.com/office/powerpoint/2010/main" val="23236968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93169-FE11-CD9C-6A6F-440BB59D673D}"/>
              </a:ext>
            </a:extLst>
          </p:cNvPr>
          <p:cNvSpPr>
            <a:spLocks noGrp="1"/>
          </p:cNvSpPr>
          <p:nvPr>
            <p:ph type="title"/>
          </p:nvPr>
        </p:nvSpPr>
        <p:spPr>
          <a:xfrm>
            <a:off x="1097280" y="230619"/>
            <a:ext cx="10058400" cy="749095"/>
          </a:xfrm>
        </p:spPr>
        <p:txBody>
          <a:bodyPr/>
          <a:lstStyle/>
          <a:p>
            <a:r>
              <a:rPr lang="en-IN" sz="4800" b="1" dirty="0">
                <a:solidFill>
                  <a:schemeClr val="tx1"/>
                </a:solidFill>
              </a:rPr>
              <a:t>                    </a:t>
            </a:r>
            <a:r>
              <a:rPr lang="en-IN" sz="4000" b="1" dirty="0">
                <a:solidFill>
                  <a:schemeClr val="tx1"/>
                </a:solidFill>
                <a:latin typeface="Times New Roman" panose="02020603050405020304" pitchFamily="18" charset="0"/>
                <a:cs typeface="Times New Roman" panose="02020603050405020304" pitchFamily="18" charset="0"/>
              </a:rPr>
              <a:t> COMPONENTS</a:t>
            </a:r>
            <a:endParaRPr lang="en-IN" sz="40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4700A743-8694-D5E5-C0C1-0D31B21D2EC4}"/>
              </a:ext>
            </a:extLst>
          </p:cNvPr>
          <p:cNvSpPr>
            <a:spLocks noGrp="1"/>
          </p:cNvSpPr>
          <p:nvPr>
            <p:ph idx="1"/>
          </p:nvPr>
        </p:nvSpPr>
        <p:spPr>
          <a:xfrm>
            <a:off x="1097280" y="1783080"/>
            <a:ext cx="8890000" cy="4187952"/>
          </a:xfrm>
        </p:spPr>
        <p:txBody>
          <a:bodyPr>
            <a:normAutofit fontScale="47500" lnSpcReduction="20000"/>
          </a:bodyPr>
          <a:lstStyle/>
          <a:p>
            <a:pPr marL="0" indent="0">
              <a:buNone/>
            </a:pPr>
            <a:r>
              <a:rPr lang="en-IN" sz="4400" dirty="0" smtClean="0">
                <a:solidFill>
                  <a:schemeClr val="tx1"/>
                </a:solidFill>
              </a:rPr>
              <a:t>                                                                                           </a:t>
            </a:r>
          </a:p>
          <a:p>
            <a:pPr>
              <a:buFont typeface="Courier New" panose="02070309020205020404" pitchFamily="49" charset="0"/>
              <a:buChar char="o"/>
            </a:pPr>
            <a:r>
              <a:rPr lang="en-US" sz="8000" dirty="0" smtClean="0">
                <a:latin typeface="Times New Roman" panose="02020603050405020304" pitchFamily="18" charset="0"/>
                <a:cs typeface="Times New Roman" panose="02020603050405020304" pitchFamily="18" charset="0"/>
              </a:rPr>
              <a:t>Alcohol </a:t>
            </a:r>
            <a:r>
              <a:rPr lang="en-US" sz="8000" dirty="0">
                <a:latin typeface="Times New Roman" panose="02020603050405020304" pitchFamily="18" charset="0"/>
                <a:cs typeface="Times New Roman" panose="02020603050405020304" pitchFamily="18" charset="0"/>
              </a:rPr>
              <a:t>Sensor </a:t>
            </a:r>
            <a:endParaRPr lang="en-US" sz="8000" dirty="0" smtClean="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US" sz="8000" dirty="0" smtClean="0">
                <a:latin typeface="Times New Roman" panose="02020603050405020304" pitchFamily="18" charset="0"/>
                <a:cs typeface="Times New Roman" panose="02020603050405020304" pitchFamily="18" charset="0"/>
              </a:rPr>
              <a:t>Pressure Sensor</a:t>
            </a:r>
            <a:endParaRPr lang="en-US" sz="80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US" sz="8000" dirty="0" smtClean="0">
                <a:latin typeface="Times New Roman" panose="02020603050405020304" pitchFamily="18" charset="0"/>
                <a:cs typeface="Times New Roman" panose="02020603050405020304" pitchFamily="18" charset="0"/>
              </a:rPr>
              <a:t>Microcontroller </a:t>
            </a:r>
            <a:r>
              <a:rPr lang="en-US" sz="8000" dirty="0">
                <a:latin typeface="Times New Roman" panose="02020603050405020304" pitchFamily="18" charset="0"/>
                <a:cs typeface="Times New Roman" panose="02020603050405020304" pitchFamily="18" charset="0"/>
              </a:rPr>
              <a:t>AVR </a:t>
            </a:r>
            <a:r>
              <a:rPr lang="en-US" sz="8000" dirty="0" err="1">
                <a:latin typeface="Times New Roman" panose="02020603050405020304" pitchFamily="18" charset="0"/>
                <a:cs typeface="Times New Roman" panose="02020603050405020304" pitchFamily="18" charset="0"/>
              </a:rPr>
              <a:t>atmega</a:t>
            </a:r>
            <a:r>
              <a:rPr lang="en-US" sz="8000" dirty="0">
                <a:latin typeface="Times New Roman" panose="02020603050405020304" pitchFamily="18" charset="0"/>
                <a:cs typeface="Times New Roman" panose="02020603050405020304" pitchFamily="18" charset="0"/>
              </a:rPr>
              <a:t> 328 </a:t>
            </a:r>
          </a:p>
          <a:p>
            <a:pPr>
              <a:buFont typeface="Courier New" panose="02070309020205020404" pitchFamily="49" charset="0"/>
              <a:buChar char="o"/>
            </a:pPr>
            <a:r>
              <a:rPr lang="en-US" sz="8000" dirty="0">
                <a:latin typeface="Times New Roman" panose="02020603050405020304" pitchFamily="18" charset="0"/>
                <a:cs typeface="Times New Roman" panose="02020603050405020304" pitchFamily="18" charset="0"/>
              </a:rPr>
              <a:t>GSM/GPS SIM  </a:t>
            </a:r>
          </a:p>
          <a:p>
            <a:pPr>
              <a:buFont typeface="Courier New" panose="02070309020205020404" pitchFamily="49" charset="0"/>
              <a:buChar char="o"/>
            </a:pPr>
            <a:r>
              <a:rPr lang="en-US" sz="8000" dirty="0">
                <a:latin typeface="Times New Roman" panose="02020603050405020304" pitchFamily="18" charset="0"/>
                <a:cs typeface="Times New Roman" panose="02020603050405020304" pitchFamily="18" charset="0"/>
              </a:rPr>
              <a:t>Coil </a:t>
            </a:r>
          </a:p>
          <a:p>
            <a:pPr>
              <a:buFont typeface="Courier New" panose="02070309020205020404" pitchFamily="49" charset="0"/>
              <a:buChar char="o"/>
            </a:pPr>
            <a:r>
              <a:rPr lang="en-US" sz="8000" dirty="0">
                <a:latin typeface="Times New Roman" panose="02020603050405020304" pitchFamily="18" charset="0"/>
                <a:cs typeface="Times New Roman" panose="02020603050405020304" pitchFamily="18" charset="0"/>
              </a:rPr>
              <a:t>AT89C2051 </a:t>
            </a:r>
            <a:r>
              <a:rPr lang="en-IN" sz="8000" dirty="0">
                <a:latin typeface="Times New Roman" panose="02020603050405020304" pitchFamily="18" charset="0"/>
                <a:cs typeface="Times New Roman" panose="02020603050405020304" pitchFamily="18" charset="0"/>
              </a:rPr>
              <a:t>Microcontroller</a:t>
            </a:r>
            <a:endParaRPr lang="en-US" sz="80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endParaRPr lang="en-IN" sz="9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81552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1D6DE6D-B95A-38E6-A14E-4F353DD7B7EB}"/>
              </a:ext>
            </a:extLst>
          </p:cNvPr>
          <p:cNvSpPr>
            <a:spLocks noGrp="1"/>
          </p:cNvSpPr>
          <p:nvPr>
            <p:ph sz="half" idx="4294967295"/>
          </p:nvPr>
        </p:nvSpPr>
        <p:spPr>
          <a:xfrm>
            <a:off x="549695" y="1110834"/>
            <a:ext cx="8291618" cy="3907093"/>
          </a:xfrm>
        </p:spPr>
        <p:txBody>
          <a:bodyPr/>
          <a:lstStyle/>
          <a:p>
            <a:pPr>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 </a:t>
            </a: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Alcohol Sensor detects if the driver has consumed alcohol.</a:t>
            </a:r>
          </a:p>
          <a:p>
            <a:pPr>
              <a:buFont typeface="Courier New" panose="02070309020205020404" pitchFamily="49" charset="0"/>
              <a:buChar char="o"/>
            </a:pP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 The driver breathes near the sensor. If there is alcohol, the sensor gives a signal to the microcontroller. The system can then send an alert if the alcohol level is high.</a:t>
            </a:r>
          </a:p>
          <a:p>
            <a:pPr>
              <a:buFont typeface="Courier New" panose="02070309020205020404" pitchFamily="49" charset="0"/>
              <a:buChar char="o"/>
            </a:pPr>
            <a:endParaRPr lang="en-IN" sz="2400" dirty="0">
              <a:solidFill>
                <a:schemeClr val="tx1">
                  <a:lumMod val="85000"/>
                  <a:lumOff val="15000"/>
                </a:schemeClr>
              </a:solidFill>
              <a:latin typeface="Times New Roman" panose="02020603050405020304" pitchFamily="18" charset="0"/>
              <a:cs typeface="Times New Roman" panose="02020603050405020304" pitchFamily="18" charset="0"/>
            </a:endParaRPr>
          </a:p>
          <a:p>
            <a:pPr marL="0" indent="0">
              <a:buNone/>
            </a:pPr>
            <a:endParaRPr lang="en-IN" sz="1800" b="1" i="1" dirty="0"/>
          </a:p>
          <a:p>
            <a:pPr>
              <a:buFont typeface="Courier New" panose="02070309020205020404" pitchFamily="49" charset="0"/>
              <a:buChar char="o"/>
            </a:pPr>
            <a:endParaRPr lang="en-IN" sz="2400" dirty="0"/>
          </a:p>
          <a:p>
            <a:pPr>
              <a:buFont typeface="Courier New" panose="02070309020205020404" pitchFamily="49" charset="0"/>
              <a:buChar char="o"/>
            </a:pPr>
            <a:endParaRPr lang="en-IN" dirty="0"/>
          </a:p>
        </p:txBody>
      </p:sp>
      <p:sp>
        <p:nvSpPr>
          <p:cNvPr id="10" name="TextBox 9">
            <a:extLst>
              <a:ext uri="{FF2B5EF4-FFF2-40B4-BE49-F238E27FC236}">
                <a16:creationId xmlns:a16="http://schemas.microsoft.com/office/drawing/2014/main" id="{1804D9EA-134C-A72C-9632-B4BFFEC3F107}"/>
              </a:ext>
            </a:extLst>
          </p:cNvPr>
          <p:cNvSpPr txBox="1"/>
          <p:nvPr/>
        </p:nvSpPr>
        <p:spPr>
          <a:xfrm>
            <a:off x="9332492" y="3639313"/>
            <a:ext cx="2472412" cy="830997"/>
          </a:xfrm>
          <a:prstGeom prst="rect">
            <a:avLst/>
          </a:prstGeom>
          <a:noFill/>
        </p:spPr>
        <p:txBody>
          <a:bodyPr wrap="square">
            <a:spAutoFit/>
          </a:bodyPr>
          <a:lstStyle/>
          <a:p>
            <a:r>
              <a:rPr lang="en-US" sz="2400" dirty="0">
                <a:solidFill>
                  <a:srgbClr val="0070C0"/>
                </a:solidFill>
                <a:latin typeface="Times New Roman" panose="02020603050405020304" pitchFamily="18" charset="0"/>
                <a:cs typeface="Times New Roman" panose="02020603050405020304" pitchFamily="18" charset="0"/>
              </a:rPr>
              <a:t>Alcohol Sensor </a:t>
            </a:r>
          </a:p>
          <a:p>
            <a:endParaRPr lang="en-IN" sz="2400" b="1" i="1" dirty="0">
              <a:solidFill>
                <a:srgbClr val="0070C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8CD3095-2B61-C853-62B4-312B5407BBD2}"/>
              </a:ext>
            </a:extLst>
          </p:cNvPr>
          <p:cNvPicPr>
            <a:picLocks noChangeAspect="1"/>
          </p:cNvPicPr>
          <p:nvPr/>
        </p:nvPicPr>
        <p:blipFill>
          <a:blip r:embed="rId2"/>
          <a:stretch>
            <a:fillRect/>
          </a:stretch>
        </p:blipFill>
        <p:spPr>
          <a:xfrm>
            <a:off x="9332492" y="1110834"/>
            <a:ext cx="2143125" cy="2528479"/>
          </a:xfrm>
          <a:prstGeom prst="rect">
            <a:avLst/>
          </a:prstGeom>
        </p:spPr>
      </p:pic>
    </p:spTree>
    <p:extLst>
      <p:ext uri="{BB962C8B-B14F-4D97-AF65-F5344CB8AC3E}">
        <p14:creationId xmlns:p14="http://schemas.microsoft.com/office/powerpoint/2010/main" val="322445830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1D6DE6D-B95A-38E6-A14E-4F353DD7B7EB}"/>
              </a:ext>
            </a:extLst>
          </p:cNvPr>
          <p:cNvSpPr>
            <a:spLocks noGrp="1"/>
          </p:cNvSpPr>
          <p:nvPr>
            <p:ph sz="half" idx="4294967295"/>
          </p:nvPr>
        </p:nvSpPr>
        <p:spPr>
          <a:xfrm>
            <a:off x="484381" y="1110834"/>
            <a:ext cx="8291618" cy="3907093"/>
          </a:xfrm>
        </p:spPr>
        <p:txBody>
          <a:bodyPr/>
          <a:lstStyle/>
          <a:p>
            <a:pPr>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 Pressure Sensor detects the pressure applied by vehicles on the road </a:t>
            </a:r>
            <a:r>
              <a:rPr lang="en-US" sz="2400" dirty="0" smtClean="0">
                <a:latin typeface="Times New Roman" panose="02020603050405020304" pitchFamily="18" charset="0"/>
                <a:cs typeface="Times New Roman" panose="02020603050405020304" pitchFamily="18" charset="0"/>
              </a:rPr>
              <a:t>surface.</a:t>
            </a:r>
          </a:p>
          <a:p>
            <a:pPr>
              <a:buFont typeface="Courier New" panose="02070309020205020404" pitchFamily="49" charset="0"/>
              <a:buChar char="o"/>
            </a:pPr>
            <a:r>
              <a:rPr lang="en-US" sz="2400" dirty="0" smtClean="0">
                <a:latin typeface="Times New Roman" panose="02020603050405020304" pitchFamily="18" charset="0"/>
                <a:cs typeface="Times New Roman" panose="02020603050405020304" pitchFamily="18" charset="0"/>
              </a:rPr>
              <a:t>When </a:t>
            </a:r>
            <a:r>
              <a:rPr lang="en-US" sz="2400" dirty="0">
                <a:latin typeface="Times New Roman" panose="02020603050405020304" pitchFamily="18" charset="0"/>
                <a:cs typeface="Times New Roman" panose="02020603050405020304" pitchFamily="18" charset="0"/>
              </a:rPr>
              <a:t>a vehicle passes over the sensor, it detects the pressure change and sends a signal to the microcontroller. </a:t>
            </a:r>
            <a:endParaRPr lang="en-US" sz="2400" dirty="0" smtClean="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system can then use this data to monitor vehicle presence, speed, or trigger traffic violation alerts</a:t>
            </a:r>
            <a:r>
              <a:rPr lang="en-US" sz="2400" dirty="0" smtClean="0">
                <a:latin typeface="Times New Roman" panose="02020603050405020304" pitchFamily="18" charset="0"/>
                <a:cs typeface="Times New Roman" panose="02020603050405020304" pitchFamily="18" charset="0"/>
              </a:rPr>
              <a:t>.</a:t>
            </a:r>
            <a:endParaRPr lang="en-US" sz="2400" dirty="0">
              <a:solidFill>
                <a:schemeClr val="tx1">
                  <a:lumMod val="85000"/>
                  <a:lumOff val="15000"/>
                </a:schemeClr>
              </a:solidFill>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endParaRPr lang="en-IN" sz="2400" dirty="0">
              <a:solidFill>
                <a:schemeClr val="tx1">
                  <a:lumMod val="85000"/>
                  <a:lumOff val="15000"/>
                </a:schemeClr>
              </a:solidFill>
              <a:latin typeface="Times New Roman" panose="02020603050405020304" pitchFamily="18" charset="0"/>
              <a:cs typeface="Times New Roman" panose="02020603050405020304" pitchFamily="18" charset="0"/>
            </a:endParaRPr>
          </a:p>
          <a:p>
            <a:pPr marL="0" indent="0">
              <a:buNone/>
            </a:pPr>
            <a:endParaRPr lang="en-IN" sz="1800" b="1" i="1" dirty="0"/>
          </a:p>
          <a:p>
            <a:pPr>
              <a:buFont typeface="Courier New" panose="02070309020205020404" pitchFamily="49" charset="0"/>
              <a:buChar char="o"/>
            </a:pPr>
            <a:endParaRPr lang="en-IN" sz="2400" dirty="0"/>
          </a:p>
          <a:p>
            <a:pPr>
              <a:buFont typeface="Courier New" panose="02070309020205020404" pitchFamily="49" charset="0"/>
              <a:buChar char="o"/>
            </a:pPr>
            <a:endParaRPr lang="en-IN" dirty="0"/>
          </a:p>
        </p:txBody>
      </p:sp>
      <p:sp>
        <p:nvSpPr>
          <p:cNvPr id="10" name="TextBox 9">
            <a:extLst>
              <a:ext uri="{FF2B5EF4-FFF2-40B4-BE49-F238E27FC236}">
                <a16:creationId xmlns:a16="http://schemas.microsoft.com/office/drawing/2014/main" id="{1804D9EA-134C-A72C-9632-B4BFFEC3F107}"/>
              </a:ext>
            </a:extLst>
          </p:cNvPr>
          <p:cNvSpPr txBox="1"/>
          <p:nvPr/>
        </p:nvSpPr>
        <p:spPr>
          <a:xfrm>
            <a:off x="9332492" y="3639313"/>
            <a:ext cx="2472412" cy="830997"/>
          </a:xfrm>
          <a:prstGeom prst="rect">
            <a:avLst/>
          </a:prstGeom>
          <a:noFill/>
        </p:spPr>
        <p:txBody>
          <a:bodyPr wrap="square">
            <a:spAutoFit/>
          </a:bodyPr>
          <a:lstStyle/>
          <a:p>
            <a:r>
              <a:rPr lang="en-US" sz="2400" dirty="0" smtClean="0">
                <a:solidFill>
                  <a:srgbClr val="0070C0"/>
                </a:solidFill>
                <a:latin typeface="Times New Roman" panose="02020603050405020304" pitchFamily="18" charset="0"/>
                <a:cs typeface="Times New Roman" panose="02020603050405020304" pitchFamily="18" charset="0"/>
              </a:rPr>
              <a:t>Pressure </a:t>
            </a:r>
            <a:r>
              <a:rPr lang="en-US" sz="2400" dirty="0">
                <a:solidFill>
                  <a:srgbClr val="0070C0"/>
                </a:solidFill>
                <a:latin typeface="Times New Roman" panose="02020603050405020304" pitchFamily="18" charset="0"/>
                <a:cs typeface="Times New Roman" panose="02020603050405020304" pitchFamily="18" charset="0"/>
              </a:rPr>
              <a:t>Sensor </a:t>
            </a:r>
          </a:p>
          <a:p>
            <a:endParaRPr lang="en-IN" sz="2400" b="1" i="1" dirty="0">
              <a:solidFill>
                <a:srgbClr val="0070C0"/>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0147" y="1011271"/>
            <a:ext cx="2155746" cy="2155746"/>
          </a:xfrm>
          <a:prstGeom prst="rect">
            <a:avLst/>
          </a:prstGeom>
        </p:spPr>
      </p:pic>
    </p:spTree>
    <p:extLst>
      <p:ext uri="{BB962C8B-B14F-4D97-AF65-F5344CB8AC3E}">
        <p14:creationId xmlns:p14="http://schemas.microsoft.com/office/powerpoint/2010/main" val="109488306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8B123A7-8BD7-AD90-1229-5687D527CB35}"/>
              </a:ext>
            </a:extLst>
          </p:cNvPr>
          <p:cNvSpPr>
            <a:spLocks noGrp="1"/>
          </p:cNvSpPr>
          <p:nvPr>
            <p:ph type="body" idx="4294967295"/>
          </p:nvPr>
        </p:nvSpPr>
        <p:spPr>
          <a:xfrm>
            <a:off x="265176" y="1069848"/>
            <a:ext cx="7370064" cy="4526279"/>
          </a:xfrm>
        </p:spPr>
        <p:txBody>
          <a:bodyPr>
            <a:normAutofit/>
          </a:bodyPr>
          <a:lstStyle/>
          <a:p>
            <a:pPr>
              <a:buFont typeface="Courier New" panose="02070309020205020404" pitchFamily="49" charset="0"/>
              <a:buChar char="o"/>
            </a:pP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Microcontroller AVR </a:t>
            </a:r>
            <a:r>
              <a:rPr lang="en-US" sz="2400" dirty="0" err="1">
                <a:solidFill>
                  <a:schemeClr val="tx1">
                    <a:lumMod val="85000"/>
                    <a:lumOff val="15000"/>
                  </a:schemeClr>
                </a:solidFill>
                <a:latin typeface="Times New Roman" panose="02020603050405020304" pitchFamily="18" charset="0"/>
                <a:cs typeface="Times New Roman" panose="02020603050405020304" pitchFamily="18" charset="0"/>
              </a:rPr>
              <a:t>atmega</a:t>
            </a: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 328 acts like the brain of the system.</a:t>
            </a:r>
          </a:p>
          <a:p>
            <a:pPr>
              <a:buFont typeface="Courier New" panose="02070309020205020404" pitchFamily="49" charset="0"/>
              <a:buChar char="o"/>
            </a:pP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It collects information from all sensors </a:t>
            </a:r>
            <a:r>
              <a:rPr lang="en-US" sz="2400" dirty="0" smtClean="0">
                <a:solidFill>
                  <a:schemeClr val="tx1">
                    <a:lumMod val="85000"/>
                    <a:lumOff val="15000"/>
                  </a:schemeClr>
                </a:solidFill>
                <a:latin typeface="Times New Roman" panose="02020603050405020304" pitchFamily="18" charset="0"/>
                <a:cs typeface="Times New Roman" panose="02020603050405020304" pitchFamily="18" charset="0"/>
              </a:rPr>
              <a:t>(alcohol </a:t>
            </a: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sensor, </a:t>
            </a:r>
            <a:r>
              <a:rPr lang="en-US" sz="2400" dirty="0" smtClean="0">
                <a:solidFill>
                  <a:schemeClr val="tx1">
                    <a:lumMod val="85000"/>
                    <a:lumOff val="15000"/>
                  </a:schemeClr>
                </a:solidFill>
                <a:latin typeface="Times New Roman" panose="02020603050405020304" pitchFamily="18" charset="0"/>
                <a:cs typeface="Times New Roman" panose="02020603050405020304" pitchFamily="18" charset="0"/>
              </a:rPr>
              <a:t>pressure sensor</a:t>
            </a:r>
            <a:r>
              <a:rPr lang="en-US" sz="2400" dirty="0" smtClean="0">
                <a:solidFill>
                  <a:schemeClr val="tx1">
                    <a:lumMod val="85000"/>
                    <a:lumOff val="15000"/>
                  </a:schemeClr>
                </a:solidFill>
                <a:latin typeface="Times New Roman" panose="02020603050405020304" pitchFamily="18" charset="0"/>
                <a:cs typeface="Times New Roman" panose="02020603050405020304" pitchFamily="18" charset="0"/>
              </a:rPr>
              <a:t>). </a:t>
            </a:r>
            <a:endParaRPr lang="en-US" sz="2400" dirty="0">
              <a:solidFill>
                <a:schemeClr val="tx1">
                  <a:lumMod val="85000"/>
                  <a:lumOff val="15000"/>
                </a:schemeClr>
              </a:solidFill>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If a rule is broken (like drunk driving or signal jump), it sends alerts and activates the camera or GSM module</a:t>
            </a:r>
            <a:r>
              <a:rPr lang="en-US" sz="24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endParaRPr lang="en-IN" sz="1800" b="1" i="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C920EF4-9896-BCBC-78BA-7A308F0601A6}"/>
              </a:ext>
            </a:extLst>
          </p:cNvPr>
          <p:cNvSpPr txBox="1"/>
          <p:nvPr/>
        </p:nvSpPr>
        <p:spPr>
          <a:xfrm>
            <a:off x="6583680" y="3996301"/>
            <a:ext cx="5249682" cy="936667"/>
          </a:xfrm>
          <a:prstGeom prst="rect">
            <a:avLst/>
          </a:prstGeom>
          <a:noFill/>
        </p:spPr>
        <p:txBody>
          <a:bodyPr wrap="square">
            <a:spAutoFit/>
          </a:bodyPr>
          <a:lstStyle/>
          <a:p>
            <a:pPr lvl="2" defTabSz="914400">
              <a:lnSpc>
                <a:spcPct val="90000"/>
              </a:lnSpc>
              <a:spcBef>
                <a:spcPts val="1200"/>
              </a:spcBef>
              <a:spcAft>
                <a:spcPts val="200"/>
              </a:spcAft>
              <a:buClr>
                <a:srgbClr val="E48312"/>
              </a:buClr>
              <a:buSzPct val="100000"/>
              <a:defRPr/>
            </a:pPr>
            <a:r>
              <a:rPr lang="en-US" sz="2400" dirty="0">
                <a:solidFill>
                  <a:srgbClr val="0070C0"/>
                </a:solidFill>
                <a:latin typeface="Times New Roman" panose="02020603050405020304" pitchFamily="18" charset="0"/>
                <a:cs typeface="Times New Roman" panose="02020603050405020304" pitchFamily="18" charset="0"/>
              </a:rPr>
              <a:t>Microcontroller AVR </a:t>
            </a:r>
            <a:r>
              <a:rPr lang="en-US" sz="2400" dirty="0" err="1">
                <a:solidFill>
                  <a:srgbClr val="0070C0"/>
                </a:solidFill>
                <a:latin typeface="Times New Roman" panose="02020603050405020304" pitchFamily="18" charset="0"/>
                <a:cs typeface="Times New Roman" panose="02020603050405020304" pitchFamily="18" charset="0"/>
              </a:rPr>
              <a:t>atmega</a:t>
            </a:r>
            <a:r>
              <a:rPr lang="en-US" sz="2400" dirty="0">
                <a:solidFill>
                  <a:srgbClr val="0070C0"/>
                </a:solidFill>
                <a:latin typeface="Times New Roman" panose="02020603050405020304" pitchFamily="18" charset="0"/>
                <a:cs typeface="Times New Roman" panose="02020603050405020304" pitchFamily="18" charset="0"/>
              </a:rPr>
              <a:t> 328 </a:t>
            </a:r>
          </a:p>
          <a:p>
            <a:pPr lvl="2" defTabSz="914400">
              <a:lnSpc>
                <a:spcPct val="90000"/>
              </a:lnSpc>
              <a:spcBef>
                <a:spcPts val="1200"/>
              </a:spcBef>
              <a:spcAft>
                <a:spcPts val="200"/>
              </a:spcAft>
              <a:buClr>
                <a:srgbClr val="E48312"/>
              </a:buClr>
              <a:buSzPct val="100000"/>
              <a:defRPr/>
            </a:pPr>
            <a:endParaRPr kumimoji="0" lang="en-IN" sz="2400" b="1" i="1" u="none" strike="noStrike" kern="1200" cap="none" spc="0" normalizeH="0" baseline="0" noProof="0" dirty="0">
              <a:ln>
                <a:noFill/>
              </a:ln>
              <a:solidFill>
                <a:srgbClr val="0070C0"/>
              </a:solidFill>
              <a:effectLst/>
              <a:uLnTx/>
              <a:uFillTx/>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C766173-1DAA-341B-8C28-90ADC68C3AA1}"/>
              </a:ext>
            </a:extLst>
          </p:cNvPr>
          <p:cNvPicPr>
            <a:picLocks noChangeAspect="1"/>
          </p:cNvPicPr>
          <p:nvPr/>
        </p:nvPicPr>
        <p:blipFill>
          <a:blip r:embed="rId2"/>
          <a:stretch>
            <a:fillRect/>
          </a:stretch>
        </p:blipFill>
        <p:spPr>
          <a:xfrm>
            <a:off x="8318182" y="1257490"/>
            <a:ext cx="2505075" cy="2052638"/>
          </a:xfrm>
          <a:prstGeom prst="rect">
            <a:avLst/>
          </a:prstGeom>
        </p:spPr>
      </p:pic>
    </p:spTree>
    <p:extLst>
      <p:ext uri="{BB962C8B-B14F-4D97-AF65-F5344CB8AC3E}">
        <p14:creationId xmlns:p14="http://schemas.microsoft.com/office/powerpoint/2010/main" val="11483980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0C660F88-7DC4-3AF7-07F1-E319FF999190}"/>
              </a:ext>
            </a:extLst>
          </p:cNvPr>
          <p:cNvSpPr txBox="1"/>
          <p:nvPr/>
        </p:nvSpPr>
        <p:spPr>
          <a:xfrm>
            <a:off x="8016964" y="3594520"/>
            <a:ext cx="3749040" cy="461665"/>
          </a:xfrm>
          <a:prstGeom prst="rect">
            <a:avLst/>
          </a:prstGeom>
          <a:noFill/>
        </p:spPr>
        <p:txBody>
          <a:bodyPr wrap="square">
            <a:spAutoFit/>
          </a:bodyPr>
          <a:lstStyle/>
          <a:p>
            <a:r>
              <a:rPr lang="en-US" sz="2400" dirty="0">
                <a:solidFill>
                  <a:srgbClr val="0070C0"/>
                </a:solidFill>
                <a:latin typeface="Times New Roman" panose="02020603050405020304" pitchFamily="18" charset="0"/>
                <a:cs typeface="Times New Roman" panose="02020603050405020304" pitchFamily="18" charset="0"/>
              </a:rPr>
              <a:t>              GSM/GPS SIM  </a:t>
            </a:r>
          </a:p>
        </p:txBody>
      </p:sp>
      <p:sp>
        <p:nvSpPr>
          <p:cNvPr id="12" name="TextBox 11">
            <a:extLst>
              <a:ext uri="{FF2B5EF4-FFF2-40B4-BE49-F238E27FC236}">
                <a16:creationId xmlns:a16="http://schemas.microsoft.com/office/drawing/2014/main" id="{555A65F0-7426-5C9A-1445-A41670B9DBE6}"/>
              </a:ext>
            </a:extLst>
          </p:cNvPr>
          <p:cNvSpPr txBox="1"/>
          <p:nvPr/>
        </p:nvSpPr>
        <p:spPr>
          <a:xfrm>
            <a:off x="9181229" y="2782669"/>
            <a:ext cx="1420510" cy="369332"/>
          </a:xfrm>
          <a:prstGeom prst="rect">
            <a:avLst/>
          </a:prstGeom>
          <a:noFill/>
        </p:spPr>
        <p:txBody>
          <a:bodyPr wrap="square">
            <a:spAutoFit/>
          </a:bodyPr>
          <a:lstStyle/>
          <a:p>
            <a:pPr>
              <a:buFont typeface="Courier New" panose="02070309020205020404" pitchFamily="49" charset="0"/>
              <a:buChar char="o"/>
            </a:pPr>
            <a:r>
              <a:rPr lang="en-US" sz="1800" dirty="0">
                <a:latin typeface="Times New Roman" panose="02020603050405020304" pitchFamily="18" charset="0"/>
                <a:cs typeface="Times New Roman" panose="02020603050405020304" pitchFamily="18" charset="0"/>
              </a:rPr>
              <a:t> </a:t>
            </a:r>
          </a:p>
        </p:txBody>
      </p:sp>
      <p:sp>
        <p:nvSpPr>
          <p:cNvPr id="5" name="Rectangle 3">
            <a:extLst>
              <a:ext uri="{FF2B5EF4-FFF2-40B4-BE49-F238E27FC236}">
                <a16:creationId xmlns:a16="http://schemas.microsoft.com/office/drawing/2014/main" id="{AD93136A-09C6-2A34-F5E6-51FF639E2FBB}"/>
              </a:ext>
            </a:extLst>
          </p:cNvPr>
          <p:cNvSpPr>
            <a:spLocks noChangeArrowheads="1"/>
          </p:cNvSpPr>
          <p:nvPr/>
        </p:nvSpPr>
        <p:spPr bwMode="auto">
          <a:xfrm>
            <a:off x="646177" y="972442"/>
            <a:ext cx="689482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
                <a:schemeClr val="accent1"/>
              </a:buClr>
              <a:buSzTx/>
              <a:buFont typeface="Courier New" panose="02070309020205020404" pitchFamily="49" charset="0"/>
              <a:buChar char="o"/>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GPS (Location tracking):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Tells the exact location of the vehicle when the rule was broken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l" defTabSz="914400" rtl="0" eaLnBrk="0" fontAlgn="base" latinLnBrk="0" hangingPunct="0">
              <a:lnSpc>
                <a:spcPct val="100000"/>
              </a:lnSpc>
              <a:spcBef>
                <a:spcPct val="0"/>
              </a:spcBef>
              <a:spcAft>
                <a:spcPct val="0"/>
              </a:spcAft>
              <a:buClr>
                <a:schemeClr val="accent1"/>
              </a:buClr>
              <a:buSzTx/>
              <a:buFont typeface="Courier New" panose="02070309020205020404" pitchFamily="49" charset="0"/>
              <a:buChar char="o"/>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GSM (SMS sending):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Sends a message to the police or control center if there is a violation</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pic>
        <p:nvPicPr>
          <p:cNvPr id="7" name="Picture 6">
            <a:extLst>
              <a:ext uri="{FF2B5EF4-FFF2-40B4-BE49-F238E27FC236}">
                <a16:creationId xmlns:a16="http://schemas.microsoft.com/office/drawing/2014/main" id="{68C07016-B0FC-F1D8-BC90-BCD5271526C7}"/>
              </a:ext>
            </a:extLst>
          </p:cNvPr>
          <p:cNvPicPr>
            <a:picLocks noChangeAspect="1"/>
          </p:cNvPicPr>
          <p:nvPr/>
        </p:nvPicPr>
        <p:blipFill>
          <a:blip r:embed="rId2"/>
          <a:stretch>
            <a:fillRect/>
          </a:stretch>
        </p:blipFill>
        <p:spPr>
          <a:xfrm>
            <a:off x="8970264" y="1055042"/>
            <a:ext cx="2143125" cy="2143125"/>
          </a:xfrm>
          <a:prstGeom prst="rect">
            <a:avLst/>
          </a:prstGeom>
        </p:spPr>
      </p:pic>
    </p:spTree>
    <p:extLst>
      <p:ext uri="{BB962C8B-B14F-4D97-AF65-F5344CB8AC3E}">
        <p14:creationId xmlns:p14="http://schemas.microsoft.com/office/powerpoint/2010/main" val="337906346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2298732-B38B-3C04-77E4-6241D26D6B2F}"/>
              </a:ext>
            </a:extLst>
          </p:cNvPr>
          <p:cNvSpPr>
            <a:spLocks noGrp="1"/>
          </p:cNvSpPr>
          <p:nvPr>
            <p:ph idx="4294967295"/>
          </p:nvPr>
        </p:nvSpPr>
        <p:spPr>
          <a:xfrm>
            <a:off x="219920" y="821803"/>
            <a:ext cx="8400205" cy="5047185"/>
          </a:xfrm>
        </p:spPr>
        <p:txBody>
          <a:bodyPr>
            <a:normAutofit/>
          </a:bodyPr>
          <a:lstStyle/>
          <a:p>
            <a:pPr algn="just">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 </a:t>
            </a: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Coil detects if a vehicle crosses the red signal</a:t>
            </a:r>
            <a:r>
              <a:rPr lang="en-IN" sz="2400" dirty="0">
                <a:solidFill>
                  <a:schemeClr val="tx1">
                    <a:lumMod val="85000"/>
                    <a:lumOff val="15000"/>
                  </a:schemeClr>
                </a:solidFill>
                <a:latin typeface="Times New Roman" panose="02020603050405020304" pitchFamily="18" charset="0"/>
                <a:cs typeface="Times New Roman" panose="02020603050405020304" pitchFamily="18" charset="0"/>
              </a:rPr>
              <a:t>.</a:t>
            </a:r>
          </a:p>
          <a:p>
            <a:pPr algn="just">
              <a:buFont typeface="Courier New" panose="02070309020205020404" pitchFamily="49" charset="0"/>
              <a:buChar char="o"/>
            </a:pP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 A wire is placed under the road. When a vehicle passes over it, the system knows a car has moved forward. If it’s during a red light, it’s </a:t>
            </a:r>
            <a:r>
              <a:rPr lang="en-US" sz="2400" dirty="0" smtClean="0">
                <a:solidFill>
                  <a:schemeClr val="tx1">
                    <a:lumMod val="85000"/>
                    <a:lumOff val="15000"/>
                  </a:schemeClr>
                </a:solidFill>
                <a:latin typeface="Times New Roman" panose="02020603050405020304" pitchFamily="18" charset="0"/>
                <a:cs typeface="Times New Roman" panose="02020603050405020304" pitchFamily="18" charset="0"/>
              </a:rPr>
              <a:t>counted </a:t>
            </a: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as a violation</a:t>
            </a:r>
            <a:r>
              <a:rPr lang="en-US" sz="2400" dirty="0" smtClean="0">
                <a:solidFill>
                  <a:schemeClr val="tx1">
                    <a:lumMod val="85000"/>
                    <a:lumOff val="15000"/>
                  </a:schemeClr>
                </a:solidFill>
                <a:latin typeface="Times New Roman" panose="02020603050405020304" pitchFamily="18" charset="0"/>
                <a:cs typeface="Times New Roman" panose="02020603050405020304" pitchFamily="18" charset="0"/>
              </a:rPr>
              <a:t>.</a:t>
            </a:r>
          </a:p>
          <a:p>
            <a:pPr algn="just">
              <a:buFont typeface="Courier New" panose="02070309020205020404" pitchFamily="49" charset="0"/>
              <a:buChar char="o"/>
            </a:pPr>
            <a:endParaRPr lang="en-IN" sz="2400" b="1" i="1" dirty="0">
              <a:solidFill>
                <a:srgbClr val="0070C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DE92E8C-7B12-F90D-A936-B5A6DC0B5F57}"/>
              </a:ext>
            </a:extLst>
          </p:cNvPr>
          <p:cNvSpPr txBox="1"/>
          <p:nvPr/>
        </p:nvSpPr>
        <p:spPr>
          <a:xfrm>
            <a:off x="8205787" y="3345395"/>
            <a:ext cx="4180332" cy="738664"/>
          </a:xfrm>
          <a:prstGeom prst="rect">
            <a:avLst/>
          </a:prstGeom>
          <a:noFill/>
        </p:spPr>
        <p:txBody>
          <a:bodyPr wrap="square">
            <a:spAutoFit/>
          </a:bodyPr>
          <a:lstStyle/>
          <a:p>
            <a:pPr lvl="4"/>
            <a:r>
              <a:rPr lang="en-IN" b="1" i="1" dirty="0">
                <a:solidFill>
                  <a:srgbClr val="0070C0"/>
                </a:solidFill>
              </a:rPr>
              <a:t>                                                                                                </a:t>
            </a:r>
            <a:r>
              <a:rPr lang="en-IN" sz="2400" b="1" i="1" dirty="0">
                <a:solidFill>
                  <a:srgbClr val="0070C0"/>
                </a:solidFill>
                <a:latin typeface="Times New Roman" panose="02020603050405020304" pitchFamily="18" charset="0"/>
                <a:cs typeface="Times New Roman" panose="02020603050405020304" pitchFamily="18" charset="0"/>
              </a:rPr>
              <a:t>Coil</a:t>
            </a:r>
          </a:p>
        </p:txBody>
      </p:sp>
      <p:pic>
        <p:nvPicPr>
          <p:cNvPr id="2" name="Picture 1"/>
          <p:cNvPicPr>
            <a:picLocks noChangeAspect="1"/>
          </p:cNvPicPr>
          <p:nvPr/>
        </p:nvPicPr>
        <p:blipFill>
          <a:blip r:embed="rId2"/>
          <a:stretch>
            <a:fillRect/>
          </a:stretch>
        </p:blipFill>
        <p:spPr>
          <a:xfrm>
            <a:off x="8853500" y="821803"/>
            <a:ext cx="2884907" cy="2527059"/>
          </a:xfrm>
          <a:prstGeom prst="rect">
            <a:avLst/>
          </a:prstGeom>
        </p:spPr>
      </p:pic>
    </p:spTree>
    <p:extLst>
      <p:ext uri="{BB962C8B-B14F-4D97-AF65-F5344CB8AC3E}">
        <p14:creationId xmlns:p14="http://schemas.microsoft.com/office/powerpoint/2010/main" val="233512928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2298732-B38B-3C04-77E4-6241D26D6B2F}"/>
              </a:ext>
            </a:extLst>
          </p:cNvPr>
          <p:cNvSpPr>
            <a:spLocks noGrp="1"/>
          </p:cNvSpPr>
          <p:nvPr>
            <p:ph idx="4294967295"/>
          </p:nvPr>
        </p:nvSpPr>
        <p:spPr>
          <a:xfrm>
            <a:off x="219920" y="821803"/>
            <a:ext cx="7055523" cy="3299623"/>
          </a:xfrm>
        </p:spPr>
        <p:txBody>
          <a:bodyPr>
            <a:normAutofit/>
          </a:bodyPr>
          <a:lstStyle/>
          <a:p>
            <a:pPr algn="just">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 </a:t>
            </a:r>
            <a:r>
              <a:rPr lang="en-IN" sz="2400" dirty="0">
                <a:solidFill>
                  <a:schemeClr val="tx1">
                    <a:lumMod val="85000"/>
                    <a:lumOff val="15000"/>
                  </a:schemeClr>
                </a:solidFill>
                <a:latin typeface="Times New Roman" panose="02020603050405020304" pitchFamily="18" charset="0"/>
                <a:cs typeface="Times New Roman" panose="02020603050405020304" pitchFamily="18" charset="0"/>
              </a:rPr>
              <a:t>AT89C2051 Microcontroller</a:t>
            </a:r>
            <a:r>
              <a:rPr lang="en-IN" sz="2400" b="1"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IN" sz="2400" dirty="0">
                <a:solidFill>
                  <a:schemeClr val="tx1">
                    <a:lumMod val="85000"/>
                    <a:lumOff val="15000"/>
                  </a:schemeClr>
                </a:solidFill>
                <a:latin typeface="Times New Roman" panose="02020603050405020304" pitchFamily="18" charset="0"/>
                <a:cs typeface="Times New Roman" panose="02020603050405020304" pitchFamily="18" charset="0"/>
              </a:rPr>
              <a:t>helps with small tasks.</a:t>
            </a:r>
            <a:r>
              <a:rPr lang="en-IN" sz="2400" b="1" i="1" dirty="0">
                <a:solidFill>
                  <a:schemeClr val="tx1">
                    <a:lumMod val="85000"/>
                    <a:lumOff val="15000"/>
                  </a:schemeClr>
                </a:solidFill>
                <a:latin typeface="Times New Roman" panose="02020603050405020304" pitchFamily="18" charset="0"/>
                <a:cs typeface="Times New Roman" panose="02020603050405020304" pitchFamily="18" charset="0"/>
              </a:rPr>
              <a:t>                                                                                               </a:t>
            </a:r>
          </a:p>
          <a:p>
            <a:pPr algn="just">
              <a:buFont typeface="Courier New" panose="02070309020205020404" pitchFamily="49" charset="0"/>
              <a:buChar char="o"/>
            </a:pP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It can handle simple jobs like turning on LEDs, buzzers, or controlling other parts. It works along with the main ATmega328 chip. </a:t>
            </a:r>
            <a:endParaRPr lang="en-IN" sz="2400"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DE92E8C-7B12-F90D-A936-B5A6DC0B5F57}"/>
              </a:ext>
            </a:extLst>
          </p:cNvPr>
          <p:cNvSpPr txBox="1"/>
          <p:nvPr/>
        </p:nvSpPr>
        <p:spPr>
          <a:xfrm>
            <a:off x="5883817" y="3516365"/>
            <a:ext cx="5997080" cy="461665"/>
          </a:xfrm>
          <a:prstGeom prst="rect">
            <a:avLst/>
          </a:prstGeom>
          <a:noFill/>
        </p:spPr>
        <p:txBody>
          <a:bodyPr wrap="square">
            <a:spAutoFit/>
          </a:bodyPr>
          <a:lstStyle/>
          <a:p>
            <a:pPr lvl="4"/>
            <a:r>
              <a:rPr lang="en-IN" sz="2400" dirty="0">
                <a:solidFill>
                  <a:srgbClr val="0070C0"/>
                </a:solidFill>
                <a:latin typeface="Times New Roman" panose="02020603050405020304" pitchFamily="18" charset="0"/>
                <a:cs typeface="Times New Roman" panose="02020603050405020304" pitchFamily="18" charset="0"/>
              </a:rPr>
              <a:t>AT89C2051 Microcontroller</a:t>
            </a:r>
            <a:r>
              <a:rPr lang="en-IN" sz="2400" b="1" i="1" dirty="0">
                <a:solidFill>
                  <a:srgbClr val="0070C0"/>
                </a:solidFill>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id="{B285832A-2FBF-46C8-8510-77541E2FD9D8}"/>
              </a:ext>
            </a:extLst>
          </p:cNvPr>
          <p:cNvPicPr>
            <a:picLocks noChangeAspect="1"/>
          </p:cNvPicPr>
          <p:nvPr/>
        </p:nvPicPr>
        <p:blipFill>
          <a:blip r:embed="rId2"/>
          <a:stretch>
            <a:fillRect/>
          </a:stretch>
        </p:blipFill>
        <p:spPr>
          <a:xfrm>
            <a:off x="8244434" y="1335012"/>
            <a:ext cx="3171055" cy="1775791"/>
          </a:xfrm>
          <a:prstGeom prst="rect">
            <a:avLst/>
          </a:prstGeom>
        </p:spPr>
      </p:pic>
    </p:spTree>
    <p:extLst>
      <p:ext uri="{BB962C8B-B14F-4D97-AF65-F5344CB8AC3E}">
        <p14:creationId xmlns:p14="http://schemas.microsoft.com/office/powerpoint/2010/main" val="403342268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510538"/>
            <a:ext cx="10058400" cy="851732"/>
          </a:xfrm>
        </p:spPr>
        <p:txBody>
          <a:bodyPr/>
          <a:lstStyle/>
          <a:p>
            <a:pPr algn="ctr"/>
            <a:r>
              <a:rPr lang="en-IN" sz="4000" b="1" dirty="0" smtClean="0">
                <a:solidFill>
                  <a:schemeClr val="tx1">
                    <a:lumMod val="85000"/>
                    <a:lumOff val="15000"/>
                  </a:schemeClr>
                </a:solidFill>
                <a:latin typeface="Times New Roman" panose="02020603050405020304" pitchFamily="18" charset="0"/>
                <a:cs typeface="Times New Roman" panose="02020603050405020304" pitchFamily="18" charset="0"/>
              </a:rPr>
              <a:t>Web-CAM</a:t>
            </a:r>
            <a:r>
              <a:rPr lang="en-IN" dirty="0" smtClean="0">
                <a:solidFill>
                  <a:schemeClr val="tx1">
                    <a:lumMod val="85000"/>
                    <a:lumOff val="15000"/>
                  </a:schemeClr>
                </a:solidFill>
                <a:latin typeface="Times New Roman" panose="02020603050405020304" pitchFamily="18" charset="0"/>
                <a:cs typeface="Times New Roman" panose="02020603050405020304" pitchFamily="18" charset="0"/>
              </a:rPr>
              <a:t> </a:t>
            </a:r>
            <a:endParaRPr lang="en-IN"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buFont typeface="Courier New" panose="02070309020205020404" pitchFamily="49" charset="0"/>
              <a:buChar char="o"/>
            </a:pPr>
            <a:r>
              <a:rPr lang="en-IN" dirty="0">
                <a:solidFill>
                  <a:schemeClr val="tx1">
                    <a:lumMod val="85000"/>
                    <a:lumOff val="15000"/>
                  </a:schemeClr>
                </a:solidFill>
                <a:latin typeface="Times New Roman" panose="02020603050405020304" pitchFamily="18" charset="0"/>
                <a:cs typeface="Times New Roman" panose="02020603050405020304" pitchFamily="18" charset="0"/>
              </a:rPr>
              <a:t>Webcam </a:t>
            </a:r>
            <a:r>
              <a:rPr lang="en-US" dirty="0">
                <a:solidFill>
                  <a:schemeClr val="tx1">
                    <a:lumMod val="85000"/>
                    <a:lumOff val="15000"/>
                  </a:schemeClr>
                </a:solidFill>
                <a:latin typeface="Times New Roman" panose="02020603050405020304" pitchFamily="18" charset="0"/>
                <a:cs typeface="Times New Roman" panose="02020603050405020304" pitchFamily="18" charset="0"/>
              </a:rPr>
              <a:t>Takes a photo or video of the violation.</a:t>
            </a:r>
          </a:p>
          <a:p>
            <a:pPr algn="just">
              <a:buFont typeface="Courier New" panose="02070309020205020404" pitchFamily="49" charset="0"/>
              <a:buChar char="o"/>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 When a violation is detected, the microcontroller tells the laptop or PC to take a picture using Python code. This image is used as proof.</a:t>
            </a:r>
            <a:endParaRPr lang="en-IN" b="1" i="1"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3501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463885"/>
            <a:ext cx="10058400" cy="870393"/>
          </a:xfrm>
        </p:spPr>
        <p:txBody>
          <a:bodyPr>
            <a:normAutofit/>
          </a:bodyPr>
          <a:lstStyle/>
          <a:p>
            <a:pPr algn="ctr"/>
            <a:r>
              <a:rPr lang="en-IN" sz="4000" b="1" dirty="0" smtClean="0">
                <a:solidFill>
                  <a:schemeClr val="tx1">
                    <a:lumMod val="85000"/>
                    <a:lumOff val="15000"/>
                  </a:schemeClr>
                </a:solidFill>
                <a:latin typeface="Times New Roman" panose="02020603050405020304" pitchFamily="18" charset="0"/>
                <a:cs typeface="Times New Roman" panose="02020603050405020304" pitchFamily="18" charset="0"/>
              </a:rPr>
              <a:t>IDE-TOOL</a:t>
            </a:r>
            <a:endParaRPr lang="en-IN" sz="4000" b="1"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 </a:t>
            </a:r>
            <a:r>
              <a:rPr lang="en-IN" dirty="0">
                <a:solidFill>
                  <a:schemeClr val="tx1">
                    <a:lumMod val="85000"/>
                    <a:lumOff val="15000"/>
                  </a:schemeClr>
                </a:solidFill>
                <a:latin typeface="Times New Roman" panose="02020603050405020304" pitchFamily="18" charset="0"/>
                <a:cs typeface="Times New Roman" panose="02020603050405020304" pitchFamily="18" charset="0"/>
              </a:rPr>
              <a:t>IDE Tool </a:t>
            </a:r>
            <a:r>
              <a:rPr lang="en-US" dirty="0">
                <a:solidFill>
                  <a:schemeClr val="tx1">
                    <a:lumMod val="85000"/>
                    <a:lumOff val="15000"/>
                  </a:schemeClr>
                </a:solidFill>
                <a:latin typeface="Times New Roman" panose="02020603050405020304" pitchFamily="18" charset="0"/>
                <a:cs typeface="Times New Roman" panose="02020603050405020304" pitchFamily="18" charset="0"/>
              </a:rPr>
              <a:t>helps write and upload code.</a:t>
            </a:r>
            <a:r>
              <a:rPr lang="en-IN" b="1" i="1" dirty="0">
                <a:solidFill>
                  <a:schemeClr val="tx1">
                    <a:lumMod val="85000"/>
                    <a:lumOff val="15000"/>
                  </a:schemeClr>
                </a:solidFill>
                <a:latin typeface="Times New Roman" panose="02020603050405020304" pitchFamily="18" charset="0"/>
                <a:cs typeface="Times New Roman" panose="02020603050405020304" pitchFamily="18" charset="0"/>
              </a:rPr>
              <a:t>                                                                                               </a:t>
            </a:r>
          </a:p>
          <a:p>
            <a:pPr algn="just">
              <a:buFont typeface="Courier New" panose="02070309020205020404" pitchFamily="49" charset="0"/>
              <a:buChar char="o"/>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 It is used by developers to write programs (code), upload it to the microcontrollers, and run Python scripts to control the camera or store data. </a:t>
            </a:r>
            <a:endParaRPr lang="en-IN" dirty="0">
              <a:solidFill>
                <a:schemeClr val="tx1">
                  <a:lumMod val="85000"/>
                  <a:lumOff val="15000"/>
                </a:schemeClr>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endParaRPr lang="en-IN" b="1" i="1" dirty="0">
              <a:solidFill>
                <a:schemeClr val="tx1">
                  <a:lumMod val="85000"/>
                  <a:lumOff val="15000"/>
                </a:schemeClr>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3952423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5358A52-F3E4-58C0-F74A-DE36B7EDA357}"/>
              </a:ext>
            </a:extLst>
          </p:cNvPr>
          <p:cNvSpPr>
            <a:spLocks noGrp="1"/>
          </p:cNvSpPr>
          <p:nvPr>
            <p:ph type="title"/>
          </p:nvPr>
        </p:nvSpPr>
        <p:spPr>
          <a:xfrm>
            <a:off x="1097280" y="258611"/>
            <a:ext cx="10058400" cy="693111"/>
          </a:xfrm>
        </p:spPr>
        <p:txBody>
          <a:bodyPr>
            <a:normAutofit/>
          </a:bodyPr>
          <a:lstStyle/>
          <a:p>
            <a:r>
              <a:rPr lang="en-IN" sz="4400" b="1" dirty="0"/>
              <a:t>                          </a:t>
            </a:r>
            <a:r>
              <a:rPr lang="en-IN" sz="4000" b="1" dirty="0">
                <a:solidFill>
                  <a:schemeClr val="tx1"/>
                </a:solidFill>
                <a:latin typeface="Times New Roman" panose="02020603050405020304" pitchFamily="18" charset="0"/>
                <a:cs typeface="Times New Roman" panose="02020603050405020304" pitchFamily="18" charset="0"/>
              </a:rPr>
              <a:t>BLOCK DIAGRAM</a:t>
            </a:r>
          </a:p>
        </p:txBody>
      </p:sp>
      <p:sp>
        <p:nvSpPr>
          <p:cNvPr id="3" name="Content Placeholder 2">
            <a:extLst>
              <a:ext uri="{FF2B5EF4-FFF2-40B4-BE49-F238E27FC236}">
                <a16:creationId xmlns:a16="http://schemas.microsoft.com/office/drawing/2014/main" id="{707F680D-EE29-B4B9-D61F-373BA86E7DB0}"/>
              </a:ext>
            </a:extLst>
          </p:cNvPr>
          <p:cNvSpPr>
            <a:spLocks noGrp="1"/>
          </p:cNvSpPr>
          <p:nvPr>
            <p:ph idx="1"/>
          </p:nvPr>
        </p:nvSpPr>
        <p:spPr/>
        <p:txBody>
          <a:bodyPr/>
          <a:lstStyle/>
          <a:p>
            <a:r>
              <a:rPr lang="en-IN" dirty="0"/>
              <a:t>                                                      </a:t>
            </a:r>
            <a:endParaRPr lang="en-IN" sz="4400" b="1" dirty="0"/>
          </a:p>
        </p:txBody>
      </p:sp>
      <p:pic>
        <p:nvPicPr>
          <p:cNvPr id="2" name="Picture 1"/>
          <p:cNvPicPr>
            <a:picLocks noChangeAspect="1"/>
          </p:cNvPicPr>
          <p:nvPr/>
        </p:nvPicPr>
        <p:blipFill>
          <a:blip r:embed="rId2"/>
          <a:stretch>
            <a:fillRect/>
          </a:stretch>
        </p:blipFill>
        <p:spPr>
          <a:xfrm>
            <a:off x="616754" y="1374525"/>
            <a:ext cx="11019452" cy="4267570"/>
          </a:xfrm>
          <a:prstGeom prst="rect">
            <a:avLst/>
          </a:prstGeom>
        </p:spPr>
      </p:pic>
      <p:sp>
        <p:nvSpPr>
          <p:cNvPr id="4" name="Rounded Rectangle 3"/>
          <p:cNvSpPr/>
          <p:nvPr/>
        </p:nvSpPr>
        <p:spPr>
          <a:xfrm>
            <a:off x="727788" y="2901820"/>
            <a:ext cx="2435290" cy="606490"/>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ounded Rectangle 4"/>
          <p:cNvSpPr/>
          <p:nvPr/>
        </p:nvSpPr>
        <p:spPr>
          <a:xfrm>
            <a:off x="4926563" y="2388637"/>
            <a:ext cx="1688841" cy="51318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a:off x="5085183" y="2532488"/>
            <a:ext cx="1371600" cy="307777"/>
          </a:xfrm>
          <a:prstGeom prst="rect">
            <a:avLst/>
          </a:prstGeom>
          <a:noFill/>
        </p:spPr>
        <p:txBody>
          <a:bodyPr wrap="square" rtlCol="0">
            <a:spAutoFit/>
          </a:bodyPr>
          <a:lstStyle/>
          <a:p>
            <a:r>
              <a:rPr lang="en-IN" sz="1400" b="1" dirty="0" smtClean="0">
                <a:latin typeface="Calibri "/>
              </a:rPr>
              <a:t>Rectifier</a:t>
            </a:r>
            <a:endParaRPr lang="en-IN" sz="1400" b="1" dirty="0">
              <a:latin typeface="Calibri "/>
            </a:endParaRPr>
          </a:p>
        </p:txBody>
      </p:sp>
    </p:spTree>
    <p:extLst>
      <p:ext uri="{BB962C8B-B14F-4D97-AF65-F5344CB8AC3E}">
        <p14:creationId xmlns:p14="http://schemas.microsoft.com/office/powerpoint/2010/main" val="18949487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1602C-7CF3-799D-29B7-E60DE66D60DF}"/>
              </a:ext>
            </a:extLst>
          </p:cNvPr>
          <p:cNvSpPr>
            <a:spLocks noGrp="1"/>
          </p:cNvSpPr>
          <p:nvPr>
            <p:ph type="title"/>
          </p:nvPr>
        </p:nvSpPr>
        <p:spPr>
          <a:xfrm>
            <a:off x="1152330" y="594514"/>
            <a:ext cx="10058400" cy="786417"/>
          </a:xfrm>
        </p:spPr>
        <p:txBody>
          <a:bodyPr/>
          <a:lstStyle/>
          <a:p>
            <a:r>
              <a:rPr lang="en-IN" dirty="0"/>
              <a:t>                             </a:t>
            </a:r>
            <a:r>
              <a:rPr lang="en-IN" sz="4000" b="1" dirty="0">
                <a:solidFill>
                  <a:schemeClr val="tx1">
                    <a:lumMod val="85000"/>
                    <a:lumOff val="15000"/>
                  </a:schemeClr>
                </a:solidFill>
                <a:latin typeface="Times New Roman" panose="02020603050405020304" pitchFamily="18" charset="0"/>
                <a:cs typeface="Times New Roman" panose="02020603050405020304" pitchFamily="18" charset="0"/>
              </a:rPr>
              <a:t>WORKING</a:t>
            </a:r>
            <a:endParaRPr lang="en-IN" sz="4400" b="1"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01AE366E-D3A0-0B4B-9F27-7527C075535D}"/>
              </a:ext>
            </a:extLst>
          </p:cNvPr>
          <p:cNvSpPr>
            <a:spLocks noGrp="1"/>
          </p:cNvSpPr>
          <p:nvPr>
            <p:ph idx="1"/>
          </p:nvPr>
        </p:nvSpPr>
        <p:spPr>
          <a:xfrm>
            <a:off x="1184988" y="1855894"/>
            <a:ext cx="9993084" cy="4023360"/>
          </a:xfrm>
        </p:spPr>
        <p:txBody>
          <a:bodyPr>
            <a:noAutofit/>
          </a:bodyPr>
          <a:lstStyle/>
          <a:p>
            <a:pPr marL="201168" lvl="1" indent="0" algn="just">
              <a:lnSpc>
                <a:spcPct val="100000"/>
              </a:lnSpc>
              <a:buNone/>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The Wireless-Based Traffic Violation Detection System is designed to monitor and report </a:t>
            </a:r>
            <a:r>
              <a:rPr lang="en-US" dirty="0" smtClean="0">
                <a:solidFill>
                  <a:schemeClr val="tx1">
                    <a:lumMod val="85000"/>
                    <a:lumOff val="15000"/>
                  </a:schemeClr>
                </a:solidFill>
                <a:latin typeface="Times New Roman" panose="02020603050405020304" pitchFamily="18" charset="0"/>
                <a:cs typeface="Times New Roman" panose="02020603050405020304" pitchFamily="18" charset="0"/>
              </a:rPr>
              <a:t>some </a:t>
            </a:r>
            <a:r>
              <a:rPr lang="en-US" dirty="0">
                <a:solidFill>
                  <a:schemeClr val="tx1">
                    <a:lumMod val="85000"/>
                    <a:lumOff val="15000"/>
                  </a:schemeClr>
                </a:solidFill>
                <a:latin typeface="Times New Roman" panose="02020603050405020304" pitchFamily="18" charset="0"/>
                <a:cs typeface="Times New Roman" panose="02020603050405020304" pitchFamily="18" charset="0"/>
              </a:rPr>
              <a:t>key issues: red signal violations and road accidents. The system uses an ATmega328 microcontroller as its core, along with a set of sensors and communication modules. Copper coils are embedded in both the vehicle and the zebra crossing. When the traffic signal turns red, the zebra crossing coil is powered with AC. If a vehicle crosses the line during this time, electromagnetic induction occurs between the two coils, generating a voltage. This voltage is then rectified and detected by the microcontroller, which considers it a violation. The vehicle’s location is obtained using a GPS module, and an alert message is sent to the RTO via a GSM module. For accident detection, a pressure sensor is installed in the vehicle. In case of a sudden impact, the sensor is triggered, and the system sends an emergency alert with location details to the RTO and a nearby hospital. An optional alcohol sensor can be added to detect if the driver is intoxicated before starting the vehicle, and if so, the system can either prevent the vehicle from starting or send an alert to the authorities. This project provides a smart and automated way to enforce traffic rules and respond quickly to road emergencies</a:t>
            </a:r>
            <a:r>
              <a:rPr lang="en-US" sz="2000" dirty="0">
                <a:solidFill>
                  <a:schemeClr val="tx1">
                    <a:lumMod val="85000"/>
                    <a:lumOff val="15000"/>
                  </a:schemeClr>
                </a:solidFill>
                <a:latin typeface="Times New Roman" panose="02020603050405020304" pitchFamily="18" charset="0"/>
                <a:cs typeface="Times New Roman" panose="02020603050405020304" pitchFamily="18" charset="0"/>
              </a:rPr>
              <a:t>.</a:t>
            </a:r>
            <a:endParaRPr lang="en-IN" sz="2000"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97789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1BC50-A915-BD73-9A57-3F3A72DB2583}"/>
              </a:ext>
            </a:extLst>
          </p:cNvPr>
          <p:cNvSpPr>
            <a:spLocks noGrp="1"/>
          </p:cNvSpPr>
          <p:nvPr>
            <p:ph type="title"/>
          </p:nvPr>
        </p:nvSpPr>
        <p:spPr>
          <a:xfrm>
            <a:off x="770709" y="221289"/>
            <a:ext cx="10058400" cy="1095157"/>
          </a:xfrm>
        </p:spPr>
        <p:txBody>
          <a:bodyPr>
            <a:normAutofit/>
          </a:bodyPr>
          <a:lstStyle/>
          <a:p>
            <a:r>
              <a:rPr lang="en-IN" sz="3600" b="1" dirty="0"/>
              <a:t>                                    </a:t>
            </a:r>
            <a:r>
              <a:rPr lang="en-IN" sz="4000" b="1" dirty="0">
                <a:solidFill>
                  <a:schemeClr val="tx1">
                    <a:lumMod val="85000"/>
                    <a:lumOff val="15000"/>
                  </a:schemeClr>
                </a:solidFill>
                <a:latin typeface="Times New Roman" panose="02020603050405020304" pitchFamily="18" charset="0"/>
                <a:cs typeface="Times New Roman" panose="02020603050405020304" pitchFamily="18" charset="0"/>
              </a:rPr>
              <a:t>APPLICATION</a:t>
            </a:r>
          </a:p>
        </p:txBody>
      </p:sp>
      <p:sp>
        <p:nvSpPr>
          <p:cNvPr id="4" name="Content Placeholder 3">
            <a:extLst>
              <a:ext uri="{FF2B5EF4-FFF2-40B4-BE49-F238E27FC236}">
                <a16:creationId xmlns:a16="http://schemas.microsoft.com/office/drawing/2014/main" id="{748B2CE9-8682-95E7-DC02-8D8F5F7B5DF3}"/>
              </a:ext>
            </a:extLst>
          </p:cNvPr>
          <p:cNvSpPr>
            <a:spLocks noGrp="1"/>
          </p:cNvSpPr>
          <p:nvPr>
            <p:ph idx="1"/>
          </p:nvPr>
        </p:nvSpPr>
        <p:spPr/>
        <p:txBody>
          <a:bodyPr>
            <a:normAutofit/>
          </a:bodyPr>
          <a:lstStyle/>
          <a:p>
            <a:pPr>
              <a:buFont typeface="Courier New" panose="02070309020205020404" pitchFamily="49" charset="0"/>
              <a:buChar char="o"/>
            </a:pP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Traffic Rule Enforcement: Detects and logs vehicles that jump signals, overspeed, or violate road rules using sensors and real-time data.</a:t>
            </a:r>
          </a:p>
          <a:p>
            <a:pPr>
              <a:buFont typeface="Courier New" panose="02070309020205020404" pitchFamily="49" charset="0"/>
              <a:buChar char="o"/>
            </a:pP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Drunk Driving Prevention: The alcohol sensor can detect drivers under the influence and immediately alert authorities or disable vehicle ignition.</a:t>
            </a:r>
          </a:p>
          <a:p>
            <a:pPr>
              <a:buFont typeface="Courier New" panose="02070309020205020404" pitchFamily="49" charset="0"/>
              <a:buChar char="o"/>
            </a:pP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Stolen Vehicle Tracking:  The RFID reader and GPS module can be used to locate and track stolen vehicles tagged with RFID chips.</a:t>
            </a:r>
          </a:p>
          <a:p>
            <a:pPr>
              <a:buFont typeface="Courier New" panose="02070309020205020404" pitchFamily="49" charset="0"/>
              <a:buChar char="o"/>
            </a:pP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Accident Detection &amp; Reporting:  Cameras and sensors can detect accidents and send real-time alerts with GPS location for quick response.</a:t>
            </a:r>
          </a:p>
          <a:p>
            <a:pPr marL="0" indent="0" algn="just">
              <a:lnSpc>
                <a:spcPct val="100000"/>
              </a:lnSpc>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47884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083E6-482A-4324-30FE-81C98DB674D1}"/>
              </a:ext>
            </a:extLst>
          </p:cNvPr>
          <p:cNvSpPr>
            <a:spLocks noGrp="1"/>
          </p:cNvSpPr>
          <p:nvPr>
            <p:ph type="title"/>
          </p:nvPr>
        </p:nvSpPr>
        <p:spPr>
          <a:xfrm>
            <a:off x="1097280" y="286603"/>
            <a:ext cx="9601200" cy="952917"/>
          </a:xfrm>
        </p:spPr>
        <p:txBody>
          <a:bodyPr>
            <a:normAutofit/>
          </a:bodyPr>
          <a:lstStyle/>
          <a:p>
            <a:r>
              <a:rPr lang="en-IN" sz="3600" b="1" dirty="0"/>
              <a:t>                                 </a:t>
            </a:r>
            <a:r>
              <a:rPr lang="en-IN" sz="4000" b="1" dirty="0">
                <a:solidFill>
                  <a:schemeClr val="tx1">
                    <a:lumMod val="85000"/>
                    <a:lumOff val="15000"/>
                  </a:schemeClr>
                </a:solidFill>
                <a:latin typeface="Times New Roman" panose="02020603050405020304" pitchFamily="18" charset="0"/>
                <a:cs typeface="Times New Roman" panose="02020603050405020304" pitchFamily="18" charset="0"/>
              </a:rPr>
              <a:t>ADVANTAGES</a:t>
            </a:r>
          </a:p>
        </p:txBody>
      </p:sp>
      <p:sp>
        <p:nvSpPr>
          <p:cNvPr id="4" name="Content Placeholder 3">
            <a:extLst>
              <a:ext uri="{FF2B5EF4-FFF2-40B4-BE49-F238E27FC236}">
                <a16:creationId xmlns:a16="http://schemas.microsoft.com/office/drawing/2014/main" id="{2B85496A-558D-1D00-57A8-95DD352109C7}"/>
              </a:ext>
            </a:extLst>
          </p:cNvPr>
          <p:cNvSpPr>
            <a:spLocks noGrp="1"/>
          </p:cNvSpPr>
          <p:nvPr>
            <p:ph idx="1"/>
          </p:nvPr>
        </p:nvSpPr>
        <p:spPr/>
        <p:txBody>
          <a:bodyPr/>
          <a:lstStyle/>
          <a:p>
            <a:pPr lvl="0" algn="just">
              <a:buFont typeface="Courier New" panose="02070309020205020404" pitchFamily="49" charset="0"/>
              <a:buChar char="o"/>
            </a:pP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Enables real-time traffic violation detection</a:t>
            </a:r>
            <a:r>
              <a:rPr lang="en-US" sz="2400" dirty="0" smtClean="0">
                <a:solidFill>
                  <a:schemeClr val="tx1">
                    <a:lumMod val="85000"/>
                    <a:lumOff val="15000"/>
                  </a:schemeClr>
                </a:solidFill>
                <a:latin typeface="Times New Roman" panose="02020603050405020304" pitchFamily="18" charset="0"/>
                <a:cs typeface="Times New Roman" panose="02020603050405020304" pitchFamily="18" charset="0"/>
              </a:rPr>
              <a:t>.</a:t>
            </a:r>
          </a:p>
          <a:p>
            <a:pPr lvl="0" algn="just">
              <a:buFont typeface="Courier New" panose="02070309020205020404" pitchFamily="49" charset="0"/>
              <a:buChar char="o"/>
            </a:pP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Increases accuracy and reduces human error</a:t>
            </a:r>
            <a:r>
              <a:rPr lang="en-US" sz="2400" dirty="0" smtClean="0">
                <a:solidFill>
                  <a:schemeClr val="tx1">
                    <a:lumMod val="85000"/>
                    <a:lumOff val="15000"/>
                  </a:schemeClr>
                </a:solidFill>
                <a:latin typeface="Times New Roman" panose="02020603050405020304" pitchFamily="18" charset="0"/>
                <a:cs typeface="Times New Roman" panose="02020603050405020304" pitchFamily="18" charset="0"/>
              </a:rPr>
              <a:t>.</a:t>
            </a:r>
          </a:p>
          <a:p>
            <a:pPr lvl="0" algn="just">
              <a:buFont typeface="Courier New" panose="02070309020205020404" pitchFamily="49" charset="0"/>
              <a:buChar char="o"/>
            </a:pP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Wireless communication allows remote access and control</a:t>
            </a:r>
            <a:r>
              <a:rPr lang="en-US" sz="2400" dirty="0" smtClean="0">
                <a:solidFill>
                  <a:schemeClr val="tx1">
                    <a:lumMod val="85000"/>
                    <a:lumOff val="15000"/>
                  </a:schemeClr>
                </a:solidFill>
                <a:latin typeface="Times New Roman" panose="02020603050405020304" pitchFamily="18" charset="0"/>
                <a:cs typeface="Times New Roman" panose="02020603050405020304" pitchFamily="18" charset="0"/>
              </a:rPr>
              <a:t>.</a:t>
            </a:r>
          </a:p>
          <a:p>
            <a:pPr lvl="0" algn="just">
              <a:buFont typeface="Courier New" panose="02070309020205020404" pitchFamily="49" charset="0"/>
              <a:buChar char="o"/>
            </a:pPr>
            <a:r>
              <a:rPr lang="en-IN" sz="2400" dirty="0" smtClean="0">
                <a:solidFill>
                  <a:schemeClr val="tx1">
                    <a:lumMod val="85000"/>
                    <a:lumOff val="15000"/>
                  </a:schemeClr>
                </a:solidFill>
                <a:latin typeface="Times New Roman" panose="02020603050405020304" pitchFamily="18" charset="0"/>
                <a:cs typeface="Times New Roman" panose="02020603050405020304" pitchFamily="18" charset="0"/>
              </a:rPr>
              <a:t> </a:t>
            </a: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Helps improve road safety and traffic management.</a:t>
            </a:r>
            <a:endParaRPr lang="en-IN"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45188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538530"/>
            <a:ext cx="10058400" cy="805079"/>
          </a:xfrm>
        </p:spPr>
        <p:txBody>
          <a:bodyPr>
            <a:normAutofit/>
          </a:bodyPr>
          <a:lstStyle/>
          <a:p>
            <a:pPr algn="ctr"/>
            <a:r>
              <a:rPr lang="en-IN" sz="4000" b="1" dirty="0" smtClean="0">
                <a:solidFill>
                  <a:schemeClr val="tx1">
                    <a:lumMod val="85000"/>
                    <a:lumOff val="15000"/>
                  </a:schemeClr>
                </a:solidFill>
                <a:latin typeface="Times New Roman" panose="02020603050405020304" pitchFamily="18" charset="0"/>
                <a:cs typeface="Times New Roman" panose="02020603050405020304" pitchFamily="18" charset="0"/>
              </a:rPr>
              <a:t>DISADVANTAGES</a:t>
            </a:r>
            <a:endParaRPr lang="en-IN" sz="4000" b="1"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lvl="0" algn="just">
              <a:buFont typeface="Courier New" panose="02070309020205020404" pitchFamily="49" charset="0"/>
              <a:buChar char="o"/>
            </a:pP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Initial setup cost can be high (hardware, sensors, network</a:t>
            </a:r>
            <a:r>
              <a:rPr lang="en-US" sz="2400" dirty="0" smtClean="0">
                <a:solidFill>
                  <a:schemeClr val="tx1">
                    <a:lumMod val="85000"/>
                    <a:lumOff val="15000"/>
                  </a:schemeClr>
                </a:solidFill>
                <a:latin typeface="Times New Roman" panose="02020603050405020304" pitchFamily="18" charset="0"/>
                <a:cs typeface="Times New Roman" panose="02020603050405020304" pitchFamily="18" charset="0"/>
              </a:rPr>
              <a:t>).</a:t>
            </a:r>
          </a:p>
          <a:p>
            <a:pPr lvl="0" algn="just">
              <a:buFont typeface="Courier New" panose="02070309020205020404" pitchFamily="49" charset="0"/>
              <a:buChar char="o"/>
            </a:pP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System may face interference or signal loss in bad weather</a:t>
            </a:r>
            <a:r>
              <a:rPr lang="en-US" sz="2400" dirty="0" smtClean="0">
                <a:solidFill>
                  <a:schemeClr val="tx1">
                    <a:lumMod val="85000"/>
                    <a:lumOff val="15000"/>
                  </a:schemeClr>
                </a:solidFill>
                <a:latin typeface="Times New Roman" panose="02020603050405020304" pitchFamily="18" charset="0"/>
                <a:cs typeface="Times New Roman" panose="02020603050405020304" pitchFamily="18" charset="0"/>
              </a:rPr>
              <a:t>.</a:t>
            </a:r>
          </a:p>
          <a:p>
            <a:pPr lvl="0" algn="just">
              <a:buFont typeface="Courier New" panose="02070309020205020404" pitchFamily="49" charset="0"/>
              <a:buChar char="o"/>
            </a:pP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Maintenance of sensors and network devices is required</a:t>
            </a:r>
            <a:r>
              <a:rPr lang="en-US" sz="2400" dirty="0" smtClean="0">
                <a:solidFill>
                  <a:schemeClr val="tx1">
                    <a:lumMod val="85000"/>
                    <a:lumOff val="15000"/>
                  </a:schemeClr>
                </a:solidFill>
                <a:latin typeface="Times New Roman" panose="02020603050405020304" pitchFamily="18" charset="0"/>
                <a:cs typeface="Times New Roman" panose="02020603050405020304" pitchFamily="18" charset="0"/>
              </a:rPr>
              <a:t>.</a:t>
            </a:r>
            <a:endParaRPr lang="en-US" sz="2400" dirty="0">
              <a:solidFill>
                <a:schemeClr val="tx1">
                  <a:lumMod val="85000"/>
                  <a:lumOff val="15000"/>
                </a:schemeClr>
              </a:solidFill>
              <a:latin typeface="Times New Roman" panose="02020603050405020304" pitchFamily="18" charset="0"/>
              <a:cs typeface="Times New Roman" panose="02020603050405020304" pitchFamily="18" charset="0"/>
            </a:endParaRPr>
          </a:p>
          <a:p>
            <a:pPr lvl="0" algn="just">
              <a:buFont typeface="Courier New" panose="02070309020205020404" pitchFamily="49" charset="0"/>
              <a:buChar char="o"/>
            </a:pPr>
            <a:r>
              <a:rPr lang="en-IN" sz="24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Helps improve road safety and traffic management.</a:t>
            </a:r>
            <a:endParaRPr lang="en-IN" sz="2400" dirty="0">
              <a:solidFill>
                <a:schemeClr val="tx1">
                  <a:lumMod val="85000"/>
                  <a:lumOff val="15000"/>
                </a:schemeClr>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SzTx/>
              <a:buFont typeface="Courier New" panose="02070309020205020404" pitchFamily="49" charset="0"/>
              <a:buChar char="o"/>
            </a:pPr>
            <a:endParaRPr lang="en-US" altLang="en-US" sz="2400" dirty="0">
              <a:solidFill>
                <a:schemeClr val="tx1">
                  <a:lumMod val="85000"/>
                  <a:lumOff val="15000"/>
                </a:schemeClr>
              </a:solidFill>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92169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A5A98-4C06-2EC2-245F-5AD5AE137A1C}"/>
              </a:ext>
            </a:extLst>
          </p:cNvPr>
          <p:cNvSpPr>
            <a:spLocks noGrp="1"/>
          </p:cNvSpPr>
          <p:nvPr>
            <p:ph type="title"/>
          </p:nvPr>
        </p:nvSpPr>
        <p:spPr>
          <a:xfrm>
            <a:off x="1097280" y="258611"/>
            <a:ext cx="10058400" cy="1013877"/>
          </a:xfrm>
        </p:spPr>
        <p:txBody>
          <a:bodyPr>
            <a:normAutofit/>
          </a:bodyPr>
          <a:lstStyle/>
          <a:p>
            <a:r>
              <a:rPr lang="en-IN" dirty="0"/>
              <a:t>                      </a:t>
            </a:r>
            <a:r>
              <a:rPr lang="en-IN" sz="4000" b="1" dirty="0">
                <a:solidFill>
                  <a:schemeClr val="tx1">
                    <a:lumMod val="85000"/>
                    <a:lumOff val="15000"/>
                  </a:schemeClr>
                </a:solidFill>
                <a:latin typeface="Times New Roman" panose="02020603050405020304" pitchFamily="18" charset="0"/>
                <a:cs typeface="Times New Roman" panose="02020603050405020304" pitchFamily="18" charset="0"/>
              </a:rPr>
              <a:t>CONCLUSION</a:t>
            </a:r>
          </a:p>
        </p:txBody>
      </p:sp>
      <p:sp>
        <p:nvSpPr>
          <p:cNvPr id="4" name="Content Placeholder 3">
            <a:extLst>
              <a:ext uri="{FF2B5EF4-FFF2-40B4-BE49-F238E27FC236}">
                <a16:creationId xmlns:a16="http://schemas.microsoft.com/office/drawing/2014/main" id="{702EBF00-F869-A879-75E8-09A8301FCE60}"/>
              </a:ext>
            </a:extLst>
          </p:cNvPr>
          <p:cNvSpPr>
            <a:spLocks noGrp="1"/>
          </p:cNvSpPr>
          <p:nvPr>
            <p:ph idx="1"/>
          </p:nvPr>
        </p:nvSpPr>
        <p:spPr>
          <a:xfrm>
            <a:off x="1188720" y="2020824"/>
            <a:ext cx="9966960" cy="4306824"/>
          </a:xfrm>
        </p:spPr>
        <p:txBody>
          <a:bodyPr>
            <a:normAutofit/>
          </a:bodyPr>
          <a:lstStyle/>
          <a:p>
            <a:pPr algn="just"/>
            <a:r>
              <a:rPr lang="en-US" sz="2200" dirty="0">
                <a:solidFill>
                  <a:schemeClr val="tx1">
                    <a:lumMod val="85000"/>
                    <a:lumOff val="15000"/>
                  </a:schemeClr>
                </a:solidFill>
                <a:latin typeface="Times New Roman" panose="02020603050405020304" pitchFamily="18" charset="0"/>
                <a:cs typeface="Times New Roman" panose="02020603050405020304" pitchFamily="18" charset="0"/>
              </a:rPr>
              <a:t>The wireless-based traffic violation detection system effectively demonstrates how modern wireless technologies and sensor networks can be used to monitor and identify traffic rule violations in real time. By using wireless communication, the system ensures fast data transmission and remote monitoring, reducing human intervention and improving accuracy. This project highlights the potential of smart traffic management solutions to enhance road safety, enforce traffic laws efficiently, </a:t>
            </a:r>
            <a:r>
              <a:rPr lang="en-US" sz="2200" dirty="0" smtClean="0">
                <a:solidFill>
                  <a:schemeClr val="tx1">
                    <a:lumMod val="85000"/>
                    <a:lumOff val="15000"/>
                  </a:schemeClr>
                </a:solidFill>
                <a:latin typeface="Times New Roman" panose="02020603050405020304" pitchFamily="18" charset="0"/>
                <a:cs typeface="Times New Roman" panose="02020603050405020304" pitchFamily="18" charset="0"/>
              </a:rPr>
              <a:t>and </a:t>
            </a:r>
            <a:r>
              <a:rPr lang="en-US" sz="2200" dirty="0">
                <a:solidFill>
                  <a:schemeClr val="tx1">
                    <a:lumMod val="85000"/>
                    <a:lumOff val="15000"/>
                  </a:schemeClr>
                </a:solidFill>
                <a:latin typeface="Times New Roman" panose="02020603050405020304" pitchFamily="18" charset="0"/>
                <a:cs typeface="Times New Roman" panose="02020603050405020304" pitchFamily="18" charset="0"/>
              </a:rPr>
              <a:t>the way for intelligent transportation systems in the future.</a:t>
            </a:r>
          </a:p>
        </p:txBody>
      </p:sp>
    </p:spTree>
    <p:extLst>
      <p:ext uri="{BB962C8B-B14F-4D97-AF65-F5344CB8AC3E}">
        <p14:creationId xmlns:p14="http://schemas.microsoft.com/office/powerpoint/2010/main" val="17531635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B8F7D-EB35-05FE-B239-A76681E7B28E}"/>
              </a:ext>
            </a:extLst>
          </p:cNvPr>
          <p:cNvSpPr>
            <a:spLocks noGrp="1"/>
          </p:cNvSpPr>
          <p:nvPr>
            <p:ph type="title"/>
          </p:nvPr>
        </p:nvSpPr>
        <p:spPr>
          <a:xfrm>
            <a:off x="798700" y="314595"/>
            <a:ext cx="10058400" cy="973237"/>
          </a:xfrm>
        </p:spPr>
        <p:txBody>
          <a:bodyPr>
            <a:normAutofit/>
          </a:bodyPr>
          <a:lstStyle/>
          <a:p>
            <a:r>
              <a:rPr lang="en-IN" sz="4000" b="1" dirty="0">
                <a:latin typeface="Times New Roman" panose="02020603050405020304" pitchFamily="18" charset="0"/>
                <a:cs typeface="Times New Roman" panose="02020603050405020304" pitchFamily="18" charset="0"/>
              </a:rPr>
              <a:t>                              </a:t>
            </a:r>
            <a:r>
              <a:rPr lang="en-IN" sz="4000" b="1" dirty="0">
                <a:solidFill>
                  <a:schemeClr val="tx1">
                    <a:lumMod val="85000"/>
                    <a:lumOff val="15000"/>
                  </a:schemeClr>
                </a:solidFill>
                <a:latin typeface="Times New Roman" panose="02020603050405020304" pitchFamily="18" charset="0"/>
                <a:cs typeface="Times New Roman" panose="02020603050405020304" pitchFamily="18" charset="0"/>
              </a:rPr>
              <a:t>REFERENCE</a:t>
            </a:r>
          </a:p>
        </p:txBody>
      </p:sp>
      <p:sp>
        <p:nvSpPr>
          <p:cNvPr id="4" name="Content Placeholder 3">
            <a:extLst>
              <a:ext uri="{FF2B5EF4-FFF2-40B4-BE49-F238E27FC236}">
                <a16:creationId xmlns:a16="http://schemas.microsoft.com/office/drawing/2014/main" id="{8137952D-D646-FDDB-7FC7-663709DE6B47}"/>
              </a:ext>
            </a:extLst>
          </p:cNvPr>
          <p:cNvSpPr>
            <a:spLocks noGrp="1"/>
          </p:cNvSpPr>
          <p:nvPr>
            <p:ph idx="1"/>
          </p:nvPr>
        </p:nvSpPr>
        <p:spPr/>
        <p:txBody>
          <a:bodyPr>
            <a:normAutofit/>
          </a:bodyPr>
          <a:lstStyle/>
          <a:p>
            <a:pPr algn="just">
              <a:buFont typeface="Courier New" panose="02070309020205020404" pitchFamily="49" charset="0"/>
              <a:buChar char="o"/>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S. M. Park, "Wireless Sensor Network Based Traffic Monitoring System for Metropolitan Area," International Journal of Distributed Sensor Networks, vol. 2012, Article ID 760598</a:t>
            </a:r>
            <a:r>
              <a:rPr lang="en-US" dirty="0" smtClean="0">
                <a:solidFill>
                  <a:schemeClr val="tx1">
                    <a:lumMod val="85000"/>
                    <a:lumOff val="15000"/>
                  </a:schemeClr>
                </a:solidFill>
                <a:latin typeface="Times New Roman" panose="02020603050405020304" pitchFamily="18" charset="0"/>
                <a:cs typeface="Times New Roman" panose="02020603050405020304" pitchFamily="18" charset="0"/>
              </a:rPr>
              <a:t>.</a:t>
            </a:r>
          </a:p>
          <a:p>
            <a:pPr algn="just">
              <a:buFont typeface="Courier New" panose="02070309020205020404" pitchFamily="49" charset="0"/>
              <a:buChar char="o"/>
            </a:pPr>
            <a:r>
              <a:rPr lang="en-US" dirty="0" smtClean="0">
                <a:solidFill>
                  <a:schemeClr val="tx1">
                    <a:lumMod val="85000"/>
                    <a:lumOff val="15000"/>
                  </a:schemeClr>
                </a:solidFill>
                <a:latin typeface="Times New Roman" panose="02020603050405020304" pitchFamily="18" charset="0"/>
                <a:cs typeface="Times New Roman" panose="02020603050405020304" pitchFamily="18" charset="0"/>
              </a:rPr>
              <a:t>R</a:t>
            </a:r>
            <a:r>
              <a:rPr lang="en-US" dirty="0">
                <a:solidFill>
                  <a:schemeClr val="tx1">
                    <a:lumMod val="85000"/>
                    <a:lumOff val="15000"/>
                  </a:schemeClr>
                </a:solidFill>
                <a:latin typeface="Times New Roman" panose="02020603050405020304" pitchFamily="18" charset="0"/>
                <a:cs typeface="Times New Roman" panose="02020603050405020304" pitchFamily="18" charset="0"/>
              </a:rPr>
              <a:t>. Rajesh and V. </a:t>
            </a:r>
            <a:r>
              <a:rPr lang="en-US" dirty="0" err="1">
                <a:solidFill>
                  <a:schemeClr val="tx1">
                    <a:lumMod val="85000"/>
                    <a:lumOff val="15000"/>
                  </a:schemeClr>
                </a:solidFill>
                <a:latin typeface="Times New Roman" panose="02020603050405020304" pitchFamily="18" charset="0"/>
                <a:cs typeface="Times New Roman" panose="02020603050405020304" pitchFamily="18" charset="0"/>
              </a:rPr>
              <a:t>Bharathidasan</a:t>
            </a:r>
            <a:r>
              <a:rPr lang="en-US" dirty="0">
                <a:solidFill>
                  <a:schemeClr val="tx1">
                    <a:lumMod val="85000"/>
                    <a:lumOff val="15000"/>
                  </a:schemeClr>
                </a:solidFill>
                <a:latin typeface="Times New Roman" panose="02020603050405020304" pitchFamily="18" charset="0"/>
                <a:cs typeface="Times New Roman" panose="02020603050405020304" pitchFamily="18" charset="0"/>
              </a:rPr>
              <a:t>, "Wireless Sensor Networks for Traffic Monitoring and Detection of Violations," International Journal of Engineering and Technology (IJET), Vol 5 No 2, 2013</a:t>
            </a:r>
            <a:r>
              <a:rPr lang="en-US" dirty="0" smtClean="0">
                <a:solidFill>
                  <a:schemeClr val="tx1">
                    <a:lumMod val="85000"/>
                    <a:lumOff val="15000"/>
                  </a:schemeClr>
                </a:solidFill>
                <a:latin typeface="Times New Roman" panose="02020603050405020304" pitchFamily="18" charset="0"/>
                <a:cs typeface="Times New Roman" panose="02020603050405020304" pitchFamily="18" charset="0"/>
              </a:rPr>
              <a:t>.</a:t>
            </a:r>
          </a:p>
          <a:p>
            <a:pPr algn="just">
              <a:buFont typeface="Courier New" panose="02070309020205020404" pitchFamily="49" charset="0"/>
              <a:buChar char="o"/>
            </a:pPr>
            <a:r>
              <a:rPr lang="en-IN" dirty="0">
                <a:solidFill>
                  <a:schemeClr val="tx1">
                    <a:lumMod val="85000"/>
                    <a:lumOff val="15000"/>
                  </a:schemeClr>
                </a:solidFill>
                <a:latin typeface="Times New Roman" panose="02020603050405020304" pitchFamily="18" charset="0"/>
                <a:cs typeface="Times New Roman" panose="02020603050405020304" pitchFamily="18" charset="0"/>
              </a:rPr>
              <a:t>E. S. Kim, "Development of Intelligent Traffic Violation Detection System using Wireless Sensor Networks," IEEE Transactions on Intelligent Transportation Systems, vol. 15, no. 2, 2014.</a:t>
            </a:r>
          </a:p>
        </p:txBody>
      </p:sp>
    </p:spTree>
    <p:extLst>
      <p:ext uri="{BB962C8B-B14F-4D97-AF65-F5344CB8AC3E}">
        <p14:creationId xmlns:p14="http://schemas.microsoft.com/office/powerpoint/2010/main" val="128223874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931</TotalTime>
  <Words>1175</Words>
  <Application>Microsoft Office PowerPoint</Application>
  <PresentationFormat>Widescreen</PresentationFormat>
  <Paragraphs>96</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Calibri </vt:lpstr>
      <vt:lpstr>Calibri Light</vt:lpstr>
      <vt:lpstr>Courier New</vt:lpstr>
      <vt:lpstr>Times New Roman</vt:lpstr>
      <vt:lpstr>Retrospect</vt:lpstr>
      <vt:lpstr>                                                                                   A Presentation On:                                  WIRELESS BASED TRAFFIC VIOLATON DETECTION                                 </vt:lpstr>
      <vt:lpstr>PowerPoint Presentation</vt:lpstr>
      <vt:lpstr>                              INDEX</vt:lpstr>
      <vt:lpstr> Introduction</vt:lpstr>
      <vt:lpstr>Objective</vt:lpstr>
      <vt:lpstr>                      Circuit Diagram</vt:lpstr>
      <vt:lpstr>                     COMPONENTS</vt:lpstr>
      <vt:lpstr>PowerPoint Presentation</vt:lpstr>
      <vt:lpstr>PowerPoint Presentation</vt:lpstr>
      <vt:lpstr>PowerPoint Presentation</vt:lpstr>
      <vt:lpstr>PowerPoint Presentation</vt:lpstr>
      <vt:lpstr>PowerPoint Presentation</vt:lpstr>
      <vt:lpstr>PowerPoint Presentation</vt:lpstr>
      <vt:lpstr>Web-CAM </vt:lpstr>
      <vt:lpstr>IDE-TOOL</vt:lpstr>
      <vt:lpstr>                          BLOCK DIAGRAM</vt:lpstr>
      <vt:lpstr>                             WORKING</vt:lpstr>
      <vt:lpstr>                                    APPLICATION</vt:lpstr>
      <vt:lpstr>                                 ADVANTAGES</vt:lpstr>
      <vt:lpstr>DISADVANTAGES</vt:lpstr>
      <vt:lpstr>                      CONCLUSION</vt:lpstr>
      <vt:lpstr>                              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Presentation On                                        Air Quality Monitoring System</dc:title>
  <dc:creator>Pratiksha Sawant</dc:creator>
  <cp:lastModifiedBy>LENOVO</cp:lastModifiedBy>
  <cp:revision>56</cp:revision>
  <dcterms:created xsi:type="dcterms:W3CDTF">2024-05-09T16:00:43Z</dcterms:created>
  <dcterms:modified xsi:type="dcterms:W3CDTF">2025-05-08T04:24:37Z</dcterms:modified>
</cp:coreProperties>
</file>